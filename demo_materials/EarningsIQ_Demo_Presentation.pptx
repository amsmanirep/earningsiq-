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e2149affbc478c" /><Relationship Type="http://schemas.openxmlformats.org/officeDocument/2006/relationships/extended-properties" Target="/docProps/app.xml" Id="R152c0607f8b9404d" /><Relationship Type="http://schemas.openxmlformats.org/officeDocument/2006/relationships/officeDocument" Target="/ppt/presentation.xml" Id="Rec59db25d8cd4d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bfda133ff047a9"/>
  </p:sldMasterIdLst>
  <p:notesMasterIdLst>
    <p:notesMasterId xmlns:r="http://schemas.openxmlformats.org/officeDocument/2006/relationships" r:id="R877966bd926a4487"/>
  </p:notesMasterIdLst>
  <p:sldIdLst>
    <p:sldId xmlns:r="http://schemas.openxmlformats.org/officeDocument/2006/relationships" id="256" r:id="R115fe3041a974741"/>
    <p:sldId xmlns:r="http://schemas.openxmlformats.org/officeDocument/2006/relationships" id="257" r:id="Rdc7071884996405d"/>
    <p:sldId xmlns:r="http://schemas.openxmlformats.org/officeDocument/2006/relationships" id="258" r:id="Rf767bf8a8c81484b"/>
    <p:sldId xmlns:r="http://schemas.openxmlformats.org/officeDocument/2006/relationships" id="259" r:id="Rb9d988430dc849ff"/>
    <p:sldId xmlns:r="http://schemas.openxmlformats.org/officeDocument/2006/relationships" id="260" r:id="R2e72fadf82a041c6"/>
    <p:sldId xmlns:r="http://schemas.openxmlformats.org/officeDocument/2006/relationships" id="261" r:id="Rccbb7b8693154cfe"/>
    <p:sldId xmlns:r="http://schemas.openxmlformats.org/officeDocument/2006/relationships" id="262" r:id="R07091e33d79d4fa7"/>
    <p:sldId xmlns:r="http://schemas.openxmlformats.org/officeDocument/2006/relationships" id="263" r:id="Rd10729a168654eb4"/>
    <p:sldId xmlns:r="http://schemas.openxmlformats.org/officeDocument/2006/relationships" id="264" r:id="Rd529a7ee48524d33"/>
    <p:sldId xmlns:r="http://schemas.openxmlformats.org/officeDocument/2006/relationships" id="265" r:id="R8b26d204a4934c44"/>
    <p:sldId xmlns:r="http://schemas.openxmlformats.org/officeDocument/2006/relationships" id="266" r:id="R9d2c507d22f24d27"/>
    <p:sldId xmlns:r="http://schemas.openxmlformats.org/officeDocument/2006/relationships" id="267" r:id="R93bf7e0138b340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b1769d9ee54536" /><Relationship Type="http://schemas.openxmlformats.org/officeDocument/2006/relationships/slideMaster" Target="/ppt/slideMasters/slideMaster1.xml" Id="Rbabfda133ff047a9" /><Relationship Type="http://schemas.openxmlformats.org/officeDocument/2006/relationships/notesMaster" Target="/ppt/notesMasters/notesMaster1.xml" Id="R877966bd926a4487" /><Relationship Type="http://schemas.openxmlformats.org/officeDocument/2006/relationships/presProps" Target="/ppt/presProps.xml" Id="Ra0c464f127c74fc0" /><Relationship Type="http://schemas.openxmlformats.org/officeDocument/2006/relationships/tableStyles" Target="/ppt/tableStyles.xml" Id="Rca28e24df5fa466a" /><Relationship Type="http://schemas.openxmlformats.org/officeDocument/2006/relationships/slide" Target="/ppt/slides/slide1.xml" Id="R115fe3041a974741" /><Relationship Type="http://schemas.openxmlformats.org/officeDocument/2006/relationships/slide" Target="/ppt/slides/slide2.xml" Id="Rdc7071884996405d" /><Relationship Type="http://schemas.openxmlformats.org/officeDocument/2006/relationships/slide" Target="/ppt/slides/slide3.xml" Id="Rf767bf8a8c81484b" /><Relationship Type="http://schemas.openxmlformats.org/officeDocument/2006/relationships/slide" Target="/ppt/slides/slide4.xml" Id="Rb9d988430dc849ff" /><Relationship Type="http://schemas.openxmlformats.org/officeDocument/2006/relationships/slide" Target="/ppt/slides/slide5.xml" Id="R2e72fadf82a041c6" /><Relationship Type="http://schemas.openxmlformats.org/officeDocument/2006/relationships/slide" Target="/ppt/slides/slide6.xml" Id="Rccbb7b8693154cfe" /><Relationship Type="http://schemas.openxmlformats.org/officeDocument/2006/relationships/slide" Target="/ppt/slides/slide7.xml" Id="R07091e33d79d4fa7" /><Relationship Type="http://schemas.openxmlformats.org/officeDocument/2006/relationships/slide" Target="/ppt/slides/slide8.xml" Id="Rd10729a168654eb4" /><Relationship Type="http://schemas.openxmlformats.org/officeDocument/2006/relationships/slide" Target="/ppt/slides/slide9.xml" Id="Rd529a7ee48524d33" /><Relationship Type="http://schemas.openxmlformats.org/officeDocument/2006/relationships/slide" Target="/ppt/slides/slide10.xml" Id="R8b26d204a4934c44" /><Relationship Type="http://schemas.openxmlformats.org/officeDocument/2006/relationships/slide" Target="/ppt/slides/slide11.xml" Id="R9d2c507d22f24d27" /><Relationship Type="http://schemas.openxmlformats.org/officeDocument/2006/relationships/slide" Target="/ppt/slides/slide12.xml" Id="R93bf7e0138b340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11aa700e5144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13890a09684720" /><Relationship Type="http://schemas.openxmlformats.org/officeDocument/2006/relationships/notesMaster" Target="/ppt/notesMasters/notesMaster1.xml" Id="R3160f533b72e44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68914094054620" /><Relationship Type="http://schemas.openxmlformats.org/officeDocument/2006/relationships/notesMaster" Target="/ppt/notesMasters/notesMaster1.xml" Id="R38f97dc078c444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ce8d5e1c964584" /><Relationship Type="http://schemas.openxmlformats.org/officeDocument/2006/relationships/notesMaster" Target="/ppt/notesMasters/notesMaster1.xml" Id="Rff641d58592c46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34c334401b4c94" /><Relationship Type="http://schemas.openxmlformats.org/officeDocument/2006/relationships/notesMaster" Target="/ppt/notesMasters/notesMaster1.xml" Id="R10e0ede361094f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465e185cf649c9" /><Relationship Type="http://schemas.openxmlformats.org/officeDocument/2006/relationships/notesMaster" Target="/ppt/notesMasters/notesMaster1.xml" Id="R90fb429ebb3b44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e28d3870614b12" /><Relationship Type="http://schemas.openxmlformats.org/officeDocument/2006/relationships/notesMaster" Target="/ppt/notesMasters/notesMaster1.xml" Id="R1f4ee8fc41ff49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e7e0916f224624" /><Relationship Type="http://schemas.openxmlformats.org/officeDocument/2006/relationships/notesMaster" Target="/ppt/notesMasters/notesMaster1.xml" Id="R9fb3a3ad6dd14d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bbd4092f914605" /><Relationship Type="http://schemas.openxmlformats.org/officeDocument/2006/relationships/notesMaster" Target="/ppt/notesMasters/notesMaster1.xml" Id="Ra52a180e518247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6ac258ac184f41" /><Relationship Type="http://schemas.openxmlformats.org/officeDocument/2006/relationships/notesMaster" Target="/ppt/notesMasters/notesMaster1.xml" Id="R63dff058e90148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28cc61c28b4089" /><Relationship Type="http://schemas.openxmlformats.org/officeDocument/2006/relationships/notesMaster" Target="/ppt/notesMasters/notesMaster1.xml" Id="R38bff20190b649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0c974c33e94ee0" /><Relationship Type="http://schemas.openxmlformats.org/officeDocument/2006/relationships/notesMaster" Target="/ppt/notesMasters/notesMaster1.xml" Id="R5b9d9072b2fe46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9b72c933384a5a" /><Relationship Type="http://schemas.openxmlformats.org/officeDocument/2006/relationships/notesMaster" Target="/ppt/notesMasters/notesMaster1.xml" Id="R0d7c6c2150814e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core promise: every useful answer should remain traceable to a specific quarterly-report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</a:t>
            </a:r>
          </a:p>
          <a:p xmlns:a="http://schemas.openxmlformats.org/drawingml/2006/main">
            <a:r>
              <a:t>- Local repository: docs/PROJECT_REPORT.md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project as a reliability problem, not merely a chatbot feature. The system must preserve period, source, and page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</a:t>
            </a:r>
          </a:p>
          <a:p xmlns:a="http://schemas.openxmlformats.org/drawingml/2006/main">
            <a:r>
              <a:t>- Local repository: chains/prompts.py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ingestion preserves provenance before retrieval begins, and that both retrievers share stable IDs.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ingestion/pdf_loader.py</a:t>
            </a:r>
          </a:p>
          <a:p xmlns:a="http://schemas.openxmlformats.org/drawingml/2006/main">
            <a:r>
              <a:t>- Local repository: ingestion/chunker.py</a:t>
            </a:r>
          </a:p>
          <a:p xmlns:a="http://schemas.openxmlformats.org/drawingml/2006/main">
            <a:r>
              <a:t>- Local repository: retrieval/hybrid_search.py</a:t>
            </a:r>
          </a:p>
          <a:p xmlns:a="http://schemas.openxmlformats.org/drawingml/2006/main">
            <a:r>
              <a:t>- Local repository: chains/rag_chain.py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page boundaries matter: the user can verify a claim in the original report without guessing which page a cross-page chunk came from.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ingest_all.py</a:t>
            </a:r>
          </a:p>
          <a:p xmlns:a="http://schemas.openxmlformats.org/drawingml/2006/main">
            <a:r>
              <a:t>- Local repository: ingestion/pdf_loader.py</a:t>
            </a:r>
          </a:p>
          <a:p xmlns:a="http://schemas.openxmlformats.org/drawingml/2006/main">
            <a:r>
              <a:t>- Local repository: ingestion/chunker.py</a:t>
            </a:r>
          </a:p>
          <a:p xmlns:a="http://schemas.openxmlformats.org/drawingml/2006/main">
            <a:r>
              <a:t>- Local repository: ingestion/indexer.py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concrete example: 'margin guidance' benefits from semantic matching, while an exact percentage or acronym benefits from BM25.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retrieval/vector_search.py</a:t>
            </a:r>
          </a:p>
          <a:p xmlns:a="http://schemas.openxmlformats.org/drawingml/2006/main">
            <a:r>
              <a:t>- Local repository: retrieval/bm25_search.py</a:t>
            </a:r>
          </a:p>
          <a:p xmlns:a="http://schemas.openxmlformats.org/drawingml/2006/main">
            <a:r>
              <a:t>- Local repository: retrieval/hybrid_search.py</a:t>
            </a:r>
          </a:p>
          <a:p xmlns:a="http://schemas.openxmlformats.org/drawingml/2006/main">
            <a:r>
              <a:t>- Local repository: retrieval/reranker.py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the project avoids unnecessary multi-agent complexity. The graph is small enough to reason about and debug.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agents/router.py</a:t>
            </a:r>
          </a:p>
          <a:p xmlns:a="http://schemas.openxmlformats.org/drawingml/2006/main">
            <a:r>
              <a:t>- Local repository: agents/graph.py</a:t>
            </a:r>
          </a:p>
          <a:p xmlns:a="http://schemas.openxmlformats.org/drawingml/2006/main">
            <a:r>
              <a:t>- Local repository: chains/prompts.py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the Q&amp;A Bot first. Then show that the other tabs are not decorative: each separates a different kind of evidence or reliability concern.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app.py</a:t>
            </a:r>
          </a:p>
          <a:p xmlns:a="http://schemas.openxmlformats.org/drawingml/2006/main">
            <a:r>
              <a:t>- Local repository: data/financial_metrics.json</a:t>
            </a:r>
          </a:p>
          <a:p xmlns:a="http://schemas.openxmlformats.org/drawingml/2006/main">
            <a:r>
              <a:t>- Local repository: guidance/tracker.py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read the illustrative answer as a factual demo result. During the live demo, show the actual source excerpts and page numbers generated by the current query.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chains/prompts.py</a:t>
            </a:r>
          </a:p>
          <a:p xmlns:a="http://schemas.openxmlformats.org/drawingml/2006/main">
            <a:r>
              <a:t>- Local repository: chains/rag_chain.py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precise about what the checks prove. Unit tests and a dry run validate code paths and extraction, but they do not guarantee external API availability or answer quality for every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validation: .venv/Scripts/python.exe -m pytest -q (24 Aug 2026)</a:t>
            </a:r>
          </a:p>
          <a:p xmlns:a="http://schemas.openxmlformats.org/drawingml/2006/main">
            <a:r>
              <a:t>- Local validation: .venv/Scripts/python.exe ingest_all.py --dry-run (24 Aug 2026)</a:t>
            </a:r>
          </a:p>
          <a:p xmlns:a="http://schemas.openxmlformats.org/drawingml/2006/main">
            <a:r>
              <a:t>- Local corpus summary: data/chunks.jsonl (24 Aug 2026)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first query simple and the comparison query explicit. Do not spend demo time reading long answers; open the evidence and narrate the pipeline stages.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app.py</a:t>
            </a:r>
          </a:p>
          <a:p xmlns:a="http://schemas.openxmlformats.org/drawingml/2006/main">
            <a:r>
              <a:t>- Local repository: README.md</a:t>
            </a:r>
          </a:p>
          <a:p xmlns:a="http://schemas.openxmlformats.org/drawingml/2006/main">
            <a:r>
              <a:t>- Local validation evidence recorded 24 Aug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strong demo is honest about boundaries. State these before Q&amp;A so evaluators understand the distinction between implemented functionality and roadmap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</a:t>
            </a:r>
          </a:p>
          <a:p xmlns:a="http://schemas.openxmlformats.org/drawingml/2006/main">
            <a:r>
              <a:t>- Local repository: docs/PROJECT_REPORT.md</a:t>
            </a:r>
          </a:p>
          <a:p xmlns:a="http://schemas.openxmlformats.org/drawingml/2006/main">
            <a:r>
              <a:t>- Local repository: data/financial_metrics.json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governing principle: the user should be able to inspect retrieval scope, selected evidence, citations, and limitations.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</a:t>
            </a:r>
          </a:p>
          <a:p xmlns:a="http://schemas.openxmlformats.org/drawingml/2006/main">
            <a:r>
              <a:t>- Local repository: chains/prompts.py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a8b106b1c4e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bc0f78b6f74e4a" /><Relationship Type="http://schemas.openxmlformats.org/officeDocument/2006/relationships/slideLayout" Target="/ppt/slideLayouts/slideLayout1.xml" Id="Rb44f4366b0a049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4f4366b0a049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58780e23a4e2c" /><Relationship Type="http://schemas.openxmlformats.org/officeDocument/2006/relationships/notesSlide" Target="/ppt/notesSlides/notesSlide1.xml" Id="Re6bc96678bc949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46836c7ec4cab" /><Relationship Type="http://schemas.openxmlformats.org/officeDocument/2006/relationships/notesSlide" Target="/ppt/notesSlides/notesSlide2.xml" Id="Rea9bd5a4250849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20fa22ebf4619" /><Relationship Type="http://schemas.openxmlformats.org/officeDocument/2006/relationships/notesSlide" Target="/ppt/notesSlides/notesSlide3.xml" Id="R8788955c309645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433d720524bbf" /><Relationship Type="http://schemas.openxmlformats.org/officeDocument/2006/relationships/notesSlide" Target="/ppt/notesSlides/notesSlide4.xml" Id="R5b3e6402a21a4a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7439e3cc744b4" /><Relationship Type="http://schemas.openxmlformats.org/officeDocument/2006/relationships/notesSlide" Target="/ppt/notesSlides/notesSlide5.xml" Id="R86e42f777d634b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475626be242fe" /><Relationship Type="http://schemas.openxmlformats.org/officeDocument/2006/relationships/notesSlide" Target="/ppt/notesSlides/notesSlide6.xml" Id="R7f4ea69ad5cf45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8fd29940e4e0a" /><Relationship Type="http://schemas.openxmlformats.org/officeDocument/2006/relationships/notesSlide" Target="/ppt/notesSlides/notesSlide7.xml" Id="R47448196ceec46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d46696d0745a4" /><Relationship Type="http://schemas.openxmlformats.org/officeDocument/2006/relationships/notesSlide" Target="/ppt/notesSlides/notesSlide8.xml" Id="Re3d84c249e894e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6066db971469a" /><Relationship Type="http://schemas.openxmlformats.org/officeDocument/2006/relationships/notesSlide" Target="/ppt/notesSlides/notesSlide9.xml" Id="R9ff660f05f434c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e36bbdf2044e7" /><Relationship Type="http://schemas.openxmlformats.org/officeDocument/2006/relationships/notesSlide" Target="/ppt/notesSlides/notesSlide10.xml" Id="R2b5e1cbeca0647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250199c7848a2" /><Relationship Type="http://schemas.openxmlformats.org/officeDocument/2006/relationships/notesSlide" Target="/ppt/notesSlides/notesSlide11.xml" Id="Rff0e5a41600842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3e58e25ee41c1" /><Relationship Type="http://schemas.openxmlformats.org/officeDocument/2006/relationships/notesSlide" Target="/ppt/notesSlides/notesSlide12.xml" Id="R0ab58f7772b843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92A6427-C4D6-4BB3-B1C7-7660D8DE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A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A78"/>
                </a:solidFill>
                <a:latin typeface="Arial"/>
                <a:ea typeface="Arial"/>
                <a:cs typeface="Arial"/>
              </a:rPr>
              <a:t>AGENTIC HYBRID RAG  |  DEMO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991199B-E3AA-49A2-B4E3-DDEA3ADA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715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EarningsIQ</a:t>
            </a:r>
          </a:p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turns reports into evidence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AEC2D91-E472-4F04-BCF2-F69339F0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Page-aware ingestion. Hybrid retrieval. Grounded, streamed answers.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8BE4F85C-9F69-4CF0-807B-3EF98F2F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PROJECT WORKING &amp; LIVE DEMO GUIDE  |  24 AUGUST 2026</a:t>
            </a:r>
          </a:p>
        </p:txBody>
      </p:sp>
    </p:spTree>
    <p:extLst>
      <p:ext uri="{BB962C8B-B14F-4D97-AF65-F5344CB8AC3E}">
        <p14:creationId xmlns:p14="http://schemas.microsoft.com/office/powerpoint/2010/main" val="7047472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left">
            <a:extLst xmlns:a="http://schemas.openxmlformats.org/drawingml/2006/main">
              <a:ext uri="{FF2B5EF4-FFF2-40B4-BE49-F238E27FC236}">
                <a16:creationId xmlns:a16="http://schemas.microsoft.com/office/drawing/2014/main" id="{53F4F622-A80D-4A1F-8D46-4FDDFF53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A78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section-right">
            <a:extLst xmlns:a="http://schemas.openxmlformats.org/drawingml/2006/main">
              <a:ext uri="{FF2B5EF4-FFF2-40B4-BE49-F238E27FC236}">
                <a16:creationId xmlns:a16="http://schemas.microsoft.com/office/drawing/2014/main" id="{2E2BCC65-3085-4B7A-B43E-401733BF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DESIGN RESPONSE</a:t>
            </a:r>
          </a:p>
        </p:txBody>
      </p:sp>
      <p:sp>
        <p:nvSpPr>
          <p:cNvPr id="3" name="section-headline">
            <a:extLst xmlns:a="http://schemas.openxmlformats.org/drawingml/2006/main">
              <a:ext uri="{FF2B5EF4-FFF2-40B4-BE49-F238E27FC236}">
                <a16:creationId xmlns:a16="http://schemas.microsoft.com/office/drawing/2014/main" id="{D09933AE-D39F-4F36-834D-87DD2257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00012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Quarterly reports are dense.</a:t>
            </a:r>
          </a:p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Answers still need proof.</a:t>
            </a:r>
          </a:p>
        </p:txBody>
      </p:sp>
      <p:sp>
        <p:nvSpPr>
          <p:cNvPr id="4" name="section-foot">
            <a:extLst xmlns:a="http://schemas.openxmlformats.org/drawingml/2006/main">
              <a:ext uri="{FF2B5EF4-FFF2-40B4-BE49-F238E27FC236}">
                <a16:creationId xmlns:a16="http://schemas.microsoft.com/office/drawing/2014/main" id="{257644B7-A1EC-4991-83FA-A7DE8609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EarningsIQ separates deterministic KPIs from evidence-heavy commentary, risks, guidance, and comparisons.</a:t>
            </a:r>
          </a:p>
        </p:txBody>
      </p:sp>
    </p:spTree>
    <p:extLst>
      <p:ext uri="{BB962C8B-B14F-4D97-AF65-F5344CB8AC3E}">
        <p14:creationId xmlns:p14="http://schemas.microsoft.com/office/powerpoint/2010/main" val="1662696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eyebrow-3">
            <a:extLst xmlns:a="http://schemas.openxmlformats.org/drawingml/2006/main">
              <a:ext uri="{FF2B5EF4-FFF2-40B4-BE49-F238E27FC236}">
                <a16:creationId xmlns:a16="http://schemas.microsoft.com/office/drawing/2014/main" id="{FD336EB9-7B0B-4606-AFE2-8652A43D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A78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164559D-471D-4AA8-B1A2-A7D7B216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evidence pipeline supports ingestion and live questions</a:t>
            </a:r>
          </a:p>
        </p:txBody>
      </p:sp>
      <p:sp>
        <p:nvSpPr>
          <p:cNvPr id="3" name="footer-3">
            <a:extLst xmlns:a="http://schemas.openxmlformats.org/drawingml/2006/main">
              <a:ext uri="{FF2B5EF4-FFF2-40B4-BE49-F238E27FC236}">
                <a16:creationId xmlns:a16="http://schemas.microsoft.com/office/drawing/2014/main" id="{913D8CC7-B0A4-4AE1-BE8F-D818C8F1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ingest-label">
            <a:extLst xmlns:a="http://schemas.openxmlformats.org/drawingml/2006/main">
              <a:ext uri="{FF2B5EF4-FFF2-40B4-BE49-F238E27FC236}">
                <a16:creationId xmlns:a16="http://schemas.microsoft.com/office/drawing/2014/main" id="{971BACA1-2B3A-4787-B7AD-DC62D196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8A78"/>
                </a:solidFill>
                <a:latin typeface="Arial"/>
                <a:ea typeface="Arial"/>
                <a:cs typeface="Arial"/>
              </a:rPr>
              <a:t>OFFLINE / INDEXING</a:t>
            </a:r>
          </a:p>
        </p:txBody>
      </p:sp>
      <p:sp>
        <p:nvSpPr>
          <p:cNvPr id="5" name="pdf">
            <a:extLst xmlns:a="http://schemas.openxmlformats.org/drawingml/2006/main">
              <a:ext uri="{FF2B5EF4-FFF2-40B4-BE49-F238E27FC236}">
                <a16:creationId xmlns:a16="http://schemas.microsoft.com/office/drawing/2014/main" id="{EAFF1C0E-8A28-48B4-9E92-551A3609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1666875" cy="10096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pdf-bar">
            <a:extLst xmlns:a="http://schemas.openxmlformats.org/drawingml/2006/main">
              <a:ext uri="{FF2B5EF4-FFF2-40B4-BE49-F238E27FC236}">
                <a16:creationId xmlns:a16="http://schemas.microsoft.com/office/drawing/2014/main" id="{D816A87E-469E-4AAB-A90D-BBD03953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76200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df-title">
            <a:extLst xmlns:a="http://schemas.openxmlformats.org/drawingml/2006/main">
              <a:ext uri="{FF2B5EF4-FFF2-40B4-BE49-F238E27FC236}">
                <a16:creationId xmlns:a16="http://schemas.microsoft.com/office/drawing/2014/main" id="{9BBD58AE-2428-4617-BA4E-B4CAF546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9775"/>
            <a:ext cx="1343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Quarterly PDF</a:t>
            </a:r>
          </a:p>
        </p:txBody>
      </p:sp>
      <p:sp>
        <p:nvSpPr>
          <p:cNvPr id="8" name="pdf-subtitle">
            <a:extLst xmlns:a="http://schemas.openxmlformats.org/drawingml/2006/main">
              <a:ext uri="{FF2B5EF4-FFF2-40B4-BE49-F238E27FC236}">
                <a16:creationId xmlns:a16="http://schemas.microsoft.com/office/drawing/2014/main" id="{C57868F0-56E0-44A8-A8DA-8E06F11E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1343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Text-based report</a:t>
            </a:r>
          </a:p>
        </p:txBody>
      </p:sp>
      <p:sp>
        <p:nvSpPr>
          <p:cNvPr id="9" name="pages">
            <a:extLst xmlns:a="http://schemas.openxmlformats.org/drawingml/2006/main">
              <a:ext uri="{FF2B5EF4-FFF2-40B4-BE49-F238E27FC236}">
                <a16:creationId xmlns:a16="http://schemas.microsoft.com/office/drawing/2014/main" id="{D12988F3-0EB6-437C-A03F-9FF6C1AD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57375"/>
            <a:ext cx="1666875" cy="10096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pages-bar">
            <a:extLst xmlns:a="http://schemas.openxmlformats.org/drawingml/2006/main">
              <a:ext uri="{FF2B5EF4-FFF2-40B4-BE49-F238E27FC236}">
                <a16:creationId xmlns:a16="http://schemas.microsoft.com/office/drawing/2014/main" id="{34AAE6AD-DBCE-4442-A87C-9ADF62DB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57375"/>
            <a:ext cx="76200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s-title">
            <a:extLst xmlns:a="http://schemas.openxmlformats.org/drawingml/2006/main">
              <a:ext uri="{FF2B5EF4-FFF2-40B4-BE49-F238E27FC236}">
                <a16:creationId xmlns:a16="http://schemas.microsoft.com/office/drawing/2014/main" id="{995C3E78-E923-4E46-910E-2E0DC2B5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09775"/>
            <a:ext cx="1343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sp>
        <p:nvSpPr>
          <p:cNvPr id="12" name="pages-subtitle">
            <a:extLst xmlns:a="http://schemas.openxmlformats.org/drawingml/2006/main">
              <a:ext uri="{FF2B5EF4-FFF2-40B4-BE49-F238E27FC236}">
                <a16:creationId xmlns:a16="http://schemas.microsoft.com/office/drawing/2014/main" id="{7C7ADC6F-8787-4389-80CD-617F8F31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33625"/>
            <a:ext cx="1343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One-based provenance</a:t>
            </a:r>
          </a:p>
        </p:txBody>
      </p:sp>
      <p:sp>
        <p:nvSpPr>
          <p:cNvPr id="13" name="chunks">
            <a:extLst xmlns:a="http://schemas.openxmlformats.org/drawingml/2006/main">
              <a:ext uri="{FF2B5EF4-FFF2-40B4-BE49-F238E27FC236}">
                <a16:creationId xmlns:a16="http://schemas.microsoft.com/office/drawing/2014/main" id="{082D4187-34F0-41CA-8003-3AA7A097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1666875" cy="10096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chunks-bar">
            <a:extLst xmlns:a="http://schemas.openxmlformats.org/drawingml/2006/main">
              <a:ext uri="{FF2B5EF4-FFF2-40B4-BE49-F238E27FC236}">
                <a16:creationId xmlns:a16="http://schemas.microsoft.com/office/drawing/2014/main" id="{C0C0BC1A-835A-4838-B1DA-5CC33C7F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76200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unks-title">
            <a:extLst xmlns:a="http://schemas.openxmlformats.org/drawingml/2006/main">
              <a:ext uri="{FF2B5EF4-FFF2-40B4-BE49-F238E27FC236}">
                <a16:creationId xmlns:a16="http://schemas.microsoft.com/office/drawing/2014/main" id="{A338688A-C251-46C8-90A8-3971E5A2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09775"/>
            <a:ext cx="1343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Chunks</a:t>
            </a:r>
          </a:p>
        </p:txBody>
      </p:sp>
      <p:sp>
        <p:nvSpPr>
          <p:cNvPr id="16" name="chunks-subtitle">
            <a:extLst xmlns:a="http://schemas.openxmlformats.org/drawingml/2006/main">
              <a:ext uri="{FF2B5EF4-FFF2-40B4-BE49-F238E27FC236}">
                <a16:creationId xmlns:a16="http://schemas.microsoft.com/office/drawing/2014/main" id="{04787AA8-3910-4977-8B3F-61AEAF30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33625"/>
            <a:ext cx="1343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1,200 + 200 overlap</a:t>
            </a:r>
          </a:p>
        </p:txBody>
      </p:sp>
      <p:sp>
        <p:nvSpPr>
          <p:cNvPr id="17" name="indexes">
            <a:extLst xmlns:a="http://schemas.openxmlformats.org/drawingml/2006/main">
              <a:ext uri="{FF2B5EF4-FFF2-40B4-BE49-F238E27FC236}">
                <a16:creationId xmlns:a16="http://schemas.microsoft.com/office/drawing/2014/main" id="{822740AB-67DA-4BFE-B306-829BC70E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57375"/>
            <a:ext cx="2238375" cy="10096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indexes-bar">
            <a:extLst xmlns:a="http://schemas.openxmlformats.org/drawingml/2006/main">
              <a:ext uri="{FF2B5EF4-FFF2-40B4-BE49-F238E27FC236}">
                <a16:creationId xmlns:a16="http://schemas.microsoft.com/office/drawing/2014/main" id="{C8CC6023-365C-4157-9B08-873490FF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57375"/>
            <a:ext cx="76200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ndexes-title">
            <a:extLst xmlns:a="http://schemas.openxmlformats.org/drawingml/2006/main">
              <a:ext uri="{FF2B5EF4-FFF2-40B4-BE49-F238E27FC236}">
                <a16:creationId xmlns:a16="http://schemas.microsoft.com/office/drawing/2014/main" id="{2ECAD093-48D1-4E97-9D58-ED225E9B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09775"/>
            <a:ext cx="1914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Dual indexes</a:t>
            </a:r>
          </a:p>
        </p:txBody>
      </p:sp>
      <p:sp>
        <p:nvSpPr>
          <p:cNvPr id="20" name="indexes-subtitle">
            <a:extLst xmlns:a="http://schemas.openxmlformats.org/drawingml/2006/main">
              <a:ext uri="{FF2B5EF4-FFF2-40B4-BE49-F238E27FC236}">
                <a16:creationId xmlns:a16="http://schemas.microsoft.com/office/drawing/2014/main" id="{60C15B65-9E0C-474A-AECB-7E9D44E1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33625"/>
            <a:ext cx="1914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Pinecone + JSONL</a:t>
            </a:r>
          </a:p>
        </p:txBody>
      </p:sp>
      <p:cxnSp>
        <p:nvCxnSpPr>
          <p:cNvPr id="72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066925" y="23622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143375" y="23622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219825" y="23622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sp>
        <p:nvSpPr>
          <p:cNvPr id="24" name="query-label">
            <a:extLst xmlns:a="http://schemas.openxmlformats.org/drawingml/2006/main">
              <a:ext uri="{FF2B5EF4-FFF2-40B4-BE49-F238E27FC236}">
                <a16:creationId xmlns:a16="http://schemas.microsoft.com/office/drawing/2014/main" id="{6A5583C2-9E7A-4FFC-9F96-34B1351E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ONLINE / QUESTION</a:t>
            </a:r>
          </a:p>
        </p:txBody>
      </p:sp>
      <p:sp>
        <p:nvSpPr>
          <p:cNvPr id="25" name="question">
            <a:extLst xmlns:a="http://schemas.openxmlformats.org/drawingml/2006/main">
              <a:ext uri="{FF2B5EF4-FFF2-40B4-BE49-F238E27FC236}">
                <a16:creationId xmlns:a16="http://schemas.microsoft.com/office/drawing/2014/main" id="{DABBDDFC-478C-4622-94D5-91D838E7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1666875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question-bar">
            <a:extLst xmlns:a="http://schemas.openxmlformats.org/drawingml/2006/main">
              <a:ext uri="{FF2B5EF4-FFF2-40B4-BE49-F238E27FC236}">
                <a16:creationId xmlns:a16="http://schemas.microsoft.com/office/drawing/2014/main" id="{ABCC0110-E461-447E-AF0F-E2FBCBBE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9280CA0-4742-45CE-A96D-865951D7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14775"/>
            <a:ext cx="1343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28" name="question-subtitle">
            <a:extLst xmlns:a="http://schemas.openxmlformats.org/drawingml/2006/main">
              <a:ext uri="{FF2B5EF4-FFF2-40B4-BE49-F238E27FC236}">
                <a16:creationId xmlns:a16="http://schemas.microsoft.com/office/drawing/2014/main" id="{AF2D180D-69E2-4B4D-91E8-2188EE41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Company + quarter</a:t>
            </a:r>
          </a:p>
        </p:txBody>
      </p:sp>
      <p:sp>
        <p:nvSpPr>
          <p:cNvPr id="29" name="route">
            <a:extLst xmlns:a="http://schemas.openxmlformats.org/drawingml/2006/main">
              <a:ext uri="{FF2B5EF4-FFF2-40B4-BE49-F238E27FC236}">
                <a16:creationId xmlns:a16="http://schemas.microsoft.com/office/drawing/2014/main" id="{F14A222E-455D-4CA9-ABC9-8C908CE9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62375"/>
            <a:ext cx="1666875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route-bar">
            <a:extLst xmlns:a="http://schemas.openxmlformats.org/drawingml/2006/main">
              <a:ext uri="{FF2B5EF4-FFF2-40B4-BE49-F238E27FC236}">
                <a16:creationId xmlns:a16="http://schemas.microsoft.com/office/drawing/2014/main" id="{A8FB8A9A-CAC6-40C8-8F7A-FDBDADEC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62375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oute-title">
            <a:extLst xmlns:a="http://schemas.openxmlformats.org/drawingml/2006/main">
              <a:ext uri="{FF2B5EF4-FFF2-40B4-BE49-F238E27FC236}">
                <a16:creationId xmlns:a16="http://schemas.microsoft.com/office/drawing/2014/main" id="{9D813D5F-7009-41FE-A3EE-2DAEB73E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14775"/>
            <a:ext cx="1343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LangGraph</a:t>
            </a:r>
          </a:p>
        </p:txBody>
      </p:sp>
      <p:sp>
        <p:nvSpPr>
          <p:cNvPr id="32" name="route-subtitle">
            <a:extLst xmlns:a="http://schemas.openxmlformats.org/drawingml/2006/main">
              <a:ext uri="{FF2B5EF4-FFF2-40B4-BE49-F238E27FC236}">
                <a16:creationId xmlns:a16="http://schemas.microsoft.com/office/drawing/2014/main" id="{9EF135E4-5DEE-47BA-83D3-11B6E515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38625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Route and scope</a:t>
            </a:r>
          </a:p>
        </p:txBody>
      </p:sp>
      <p:sp>
        <p:nvSpPr>
          <p:cNvPr id="33" name="hybrid">
            <a:extLst xmlns:a="http://schemas.openxmlformats.org/drawingml/2006/main">
              <a:ext uri="{FF2B5EF4-FFF2-40B4-BE49-F238E27FC236}">
                <a16:creationId xmlns:a16="http://schemas.microsoft.com/office/drawing/2014/main" id="{B5E353C4-D1F0-45CA-9A43-A014A66B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62375"/>
            <a:ext cx="1666875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hybrid-bar">
            <a:extLst xmlns:a="http://schemas.openxmlformats.org/drawingml/2006/main">
              <a:ext uri="{FF2B5EF4-FFF2-40B4-BE49-F238E27FC236}">
                <a16:creationId xmlns:a16="http://schemas.microsoft.com/office/drawing/2014/main" id="{981EEEA3-1A59-4EB5-BC3A-289D896C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62375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ybrid-title">
            <a:extLst xmlns:a="http://schemas.openxmlformats.org/drawingml/2006/main">
              <a:ext uri="{FF2B5EF4-FFF2-40B4-BE49-F238E27FC236}">
                <a16:creationId xmlns:a16="http://schemas.microsoft.com/office/drawing/2014/main" id="{3D1817A4-8143-45BE-87E3-EE73B097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14775"/>
            <a:ext cx="1343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Hybrid search</a:t>
            </a:r>
          </a:p>
        </p:txBody>
      </p:sp>
      <p:sp>
        <p:nvSpPr>
          <p:cNvPr id="36" name="hybrid-subtitle">
            <a:extLst xmlns:a="http://schemas.openxmlformats.org/drawingml/2006/main">
              <a:ext uri="{FF2B5EF4-FFF2-40B4-BE49-F238E27FC236}">
                <a16:creationId xmlns:a16="http://schemas.microsoft.com/office/drawing/2014/main" id="{180858BD-8FCE-4695-875B-6385B408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38625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Dense + BM25</a:t>
            </a:r>
          </a:p>
        </p:txBody>
      </p:sp>
      <p:sp>
        <p:nvSpPr>
          <p:cNvPr id="37" name="fusion">
            <a:extLst xmlns:a="http://schemas.openxmlformats.org/drawingml/2006/main">
              <a:ext uri="{FF2B5EF4-FFF2-40B4-BE49-F238E27FC236}">
                <a16:creationId xmlns:a16="http://schemas.microsoft.com/office/drawing/2014/main" id="{FC3BC151-51CC-49DC-B292-BBA09C67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62375"/>
            <a:ext cx="1666875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fusion-bar">
            <a:extLst xmlns:a="http://schemas.openxmlformats.org/drawingml/2006/main">
              <a:ext uri="{FF2B5EF4-FFF2-40B4-BE49-F238E27FC236}">
                <a16:creationId xmlns:a16="http://schemas.microsoft.com/office/drawing/2014/main" id="{6B819271-491A-4921-A3D0-64376EE2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62375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fusion-title">
            <a:extLst xmlns:a="http://schemas.openxmlformats.org/drawingml/2006/main">
              <a:ext uri="{FF2B5EF4-FFF2-40B4-BE49-F238E27FC236}">
                <a16:creationId xmlns:a16="http://schemas.microsoft.com/office/drawing/2014/main" id="{DF34D966-F3B2-49EB-9906-EA01F686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14775"/>
            <a:ext cx="1343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RRF + rerank</a:t>
            </a:r>
          </a:p>
        </p:txBody>
      </p:sp>
      <p:sp>
        <p:nvSpPr>
          <p:cNvPr id="40" name="fusion-subtitle">
            <a:extLst xmlns:a="http://schemas.openxmlformats.org/drawingml/2006/main">
              <a:ext uri="{FF2B5EF4-FFF2-40B4-BE49-F238E27FC236}">
                <a16:creationId xmlns:a16="http://schemas.microsoft.com/office/drawing/2014/main" id="{FF1E2637-0F67-47F1-AD9F-845D7CBE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38625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12 down to 6</a:t>
            </a:r>
          </a:p>
        </p:txBody>
      </p:sp>
      <p:sp>
        <p:nvSpPr>
          <p:cNvPr id="41" name="answer">
            <a:extLst xmlns:a="http://schemas.openxmlformats.org/drawingml/2006/main">
              <a:ext uri="{FF2B5EF4-FFF2-40B4-BE49-F238E27FC236}">
                <a16:creationId xmlns:a16="http://schemas.microsoft.com/office/drawing/2014/main" id="{BECF59E1-FD14-423E-916B-73C01311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62375"/>
            <a:ext cx="2333625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answer-bar">
            <a:extLst xmlns:a="http://schemas.openxmlformats.org/drawingml/2006/main">
              <a:ext uri="{FF2B5EF4-FFF2-40B4-BE49-F238E27FC236}">
                <a16:creationId xmlns:a16="http://schemas.microsoft.com/office/drawing/2014/main" id="{D0C34D8D-DEEA-41DC-829F-2C611D50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62375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E68CB65B-E380-4DAA-A5C3-55D79050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14775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Grounded answer</a:t>
            </a:r>
          </a:p>
        </p:txBody>
      </p:sp>
      <p:sp>
        <p:nvSpPr>
          <p:cNvPr id="44" name="answer-subtitle">
            <a:extLst xmlns:a="http://schemas.openxmlformats.org/drawingml/2006/main">
              <a:ext uri="{FF2B5EF4-FFF2-40B4-BE49-F238E27FC236}">
                <a16:creationId xmlns:a16="http://schemas.microsoft.com/office/drawing/2014/main" id="{4482B6F6-2EF9-4F8C-BC7F-C6001065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38625"/>
            <a:ext cx="2009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Stream + citations</a:t>
            </a:r>
          </a:p>
        </p:txBody>
      </p:sp>
      <p:cxnSp>
        <p:nvCxnSpPr>
          <p:cNvPr id="96" name=""/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2066925" y="43148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29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143375" y="43148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3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6219825" y="43148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37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296275" y="43148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sp>
        <p:nvSpPr>
          <p:cNvPr id="49" name="architecture-point">
            <a:extLst xmlns:a="http://schemas.openxmlformats.org/drawingml/2006/main">
              <a:ext uri="{FF2B5EF4-FFF2-40B4-BE49-F238E27FC236}">
                <a16:creationId xmlns:a16="http://schemas.microsoft.com/office/drawing/2014/main" id="{6F01EE00-FC63-4AE6-BF35-A2CFA4E0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The same stable chunk identity ties semantic search, keyword search, fusion, and citations together.</a:t>
            </a:r>
          </a:p>
        </p:txBody>
      </p:sp>
      <p:sp>
        <p:nvSpPr>
          <p:cNvPr id="50" name="source-rail">
            <a:extLst xmlns:a="http://schemas.openxmlformats.org/drawingml/2006/main">
              <a:ext uri="{FF2B5EF4-FFF2-40B4-BE49-F238E27FC236}">
                <a16:creationId xmlns:a16="http://schemas.microsoft.com/office/drawing/2014/main" id="{70F9D0BA-E859-4D20-B561-63CAD66F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ource-rail-text">
            <a:extLst xmlns:a="http://schemas.openxmlformats.org/drawingml/2006/main">
              <a:ext uri="{FF2B5EF4-FFF2-40B4-BE49-F238E27FC236}">
                <a16:creationId xmlns:a16="http://schemas.microsoft.com/office/drawing/2014/main" id="{5DBCD633-E990-47D0-A9CA-5B1194E8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Implementation: ingestion/, retrieval/, agents/, chains/, app.py</a:t>
            </a:r>
          </a:p>
        </p:txBody>
      </p:sp>
    </p:spTree>
    <p:extLst>
      <p:ext uri="{BB962C8B-B14F-4D97-AF65-F5344CB8AC3E}">
        <p14:creationId xmlns:p14="http://schemas.microsoft.com/office/powerpoint/2010/main" val="5433005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4">
            <a:extLst xmlns:a="http://schemas.openxmlformats.org/drawingml/2006/main">
              <a:ext uri="{FF2B5EF4-FFF2-40B4-BE49-F238E27FC236}">
                <a16:creationId xmlns:a16="http://schemas.microsoft.com/office/drawing/2014/main" id="{C2F2965C-4184-42B7-A29B-48EADF2C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A78"/>
                </a:solidFill>
                <a:latin typeface="Arial"/>
                <a:ea typeface="Arial"/>
                <a:cs typeface="Arial"/>
              </a:rPr>
              <a:t>INGESTION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B7482660-5ADF-415C-B9CE-64B132FA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preservation starts before vector search</a:t>
            </a:r>
          </a:p>
        </p:txBody>
      </p:sp>
      <p:sp>
        <p:nvSpPr>
          <p:cNvPr id="3" name="footer-4">
            <a:extLst xmlns:a="http://schemas.openxmlformats.org/drawingml/2006/main">
              <a:ext uri="{FF2B5EF4-FFF2-40B4-BE49-F238E27FC236}">
                <a16:creationId xmlns:a16="http://schemas.microsoft.com/office/drawing/2014/main" id="{1B309076-0F12-4C6C-A146-806AEC06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ingestion-lead">
            <a:extLst xmlns:a="http://schemas.openxmlformats.org/drawingml/2006/main">
              <a:ext uri="{FF2B5EF4-FFF2-40B4-BE49-F238E27FC236}">
                <a16:creationId xmlns:a16="http://schemas.microsoft.com/office/drawing/2014/main" id="{6DF5AEE3-47A6-4BEC-BF67-55389028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01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Each chunk inherits the page metadata that will later become its citation.</a:t>
            </a:r>
          </a:p>
        </p:txBody>
      </p:sp>
      <p:sp>
        <p:nvSpPr>
          <p:cNvPr id="5" name="step-num-0">
            <a:extLst xmlns:a="http://schemas.openxmlformats.org/drawingml/2006/main">
              <a:ext uri="{FF2B5EF4-FFF2-40B4-BE49-F238E27FC236}">
                <a16:creationId xmlns:a16="http://schemas.microsoft.com/office/drawing/2014/main" id="{3A075BB5-3C4D-44AB-B795-AF2EE008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8A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F40E0EBE-C628-44F4-B349-484557B6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Extract pages</a:t>
            </a:r>
          </a:p>
        </p:txBody>
      </p:sp>
      <p:sp>
        <p:nvSpPr>
          <p:cNvPr id="7" name="step-copy-0">
            <a:extLst xmlns:a="http://schemas.openxmlformats.org/drawingml/2006/main">
              <a:ext uri="{FF2B5EF4-FFF2-40B4-BE49-F238E27FC236}">
                <a16:creationId xmlns:a16="http://schemas.microsoft.com/office/drawing/2014/main" id="{9EA9D8A6-5C15-4235-8B19-785B4FB8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PyMuPDF skips empty text pages and keeps one-based page numbers.</a:t>
            </a:r>
          </a:p>
        </p:txBody>
      </p:sp>
      <p:sp>
        <p:nvSpPr>
          <p:cNvPr id="8" name="step-rule-0">
            <a:extLst xmlns:a="http://schemas.openxmlformats.org/drawingml/2006/main">
              <a:ext uri="{FF2B5EF4-FFF2-40B4-BE49-F238E27FC236}">
                <a16:creationId xmlns:a16="http://schemas.microsoft.com/office/drawing/2014/main" id="{21E289BD-CB24-4053-8479-9D81259B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95575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num-1">
            <a:extLst xmlns:a="http://schemas.openxmlformats.org/drawingml/2006/main">
              <a:ext uri="{FF2B5EF4-FFF2-40B4-BE49-F238E27FC236}">
                <a16:creationId xmlns:a16="http://schemas.microsoft.com/office/drawing/2014/main" id="{4A210F31-1F8B-49D1-8B93-8EB4C5B5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8A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2711591A-B809-4254-8A45-F9D8E83D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Split per page</a:t>
            </a:r>
          </a:p>
        </p:txBody>
      </p:sp>
      <p:sp>
        <p:nvSpPr>
          <p:cNvPr id="11" name="step-copy-1">
            <a:extLst xmlns:a="http://schemas.openxmlformats.org/drawingml/2006/main">
              <a:ext uri="{FF2B5EF4-FFF2-40B4-BE49-F238E27FC236}">
                <a16:creationId xmlns:a16="http://schemas.microsoft.com/office/drawing/2014/main" id="{DE516795-3DD7-4DDB-A28A-A460574C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718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Recursive chunks never cross a PDF page boundary.</a:t>
            </a:r>
          </a:p>
        </p:txBody>
      </p:sp>
      <p:sp>
        <p:nvSpPr>
          <p:cNvPr id="12" name="step-rule-1">
            <a:extLst xmlns:a="http://schemas.openxmlformats.org/drawingml/2006/main">
              <a:ext uri="{FF2B5EF4-FFF2-40B4-BE49-F238E27FC236}">
                <a16:creationId xmlns:a16="http://schemas.microsoft.com/office/drawing/2014/main" id="{22C5CE56-E725-4CE2-A8DF-79D3A7F3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71875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num-2">
            <a:extLst xmlns:a="http://schemas.openxmlformats.org/drawingml/2006/main">
              <a:ext uri="{FF2B5EF4-FFF2-40B4-BE49-F238E27FC236}">
                <a16:creationId xmlns:a16="http://schemas.microsoft.com/office/drawing/2014/main" id="{67E74BF0-6F9F-4D62-A996-AF43FA5F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8A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3D31F929-3890-4BDC-9F0D-A36D737F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Create stable ID</a:t>
            </a:r>
          </a:p>
        </p:txBody>
      </p:sp>
      <p:sp>
        <p:nvSpPr>
          <p:cNvPr id="15" name="step-copy-2">
            <a:extLst xmlns:a="http://schemas.openxmlformats.org/drawingml/2006/main">
              <a:ext uri="{FF2B5EF4-FFF2-40B4-BE49-F238E27FC236}">
                <a16:creationId xmlns:a16="http://schemas.microsoft.com/office/drawing/2014/main" id="{EE66F905-BFD9-4587-AE6C-5462D979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481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Company | quarter | source | page | position -&gt; SHA-256 prefix.</a:t>
            </a:r>
          </a:p>
        </p:txBody>
      </p:sp>
      <p:sp>
        <p:nvSpPr>
          <p:cNvPr id="16" name="step-rule-2">
            <a:extLst xmlns:a="http://schemas.openxmlformats.org/drawingml/2006/main">
              <a:ext uri="{FF2B5EF4-FFF2-40B4-BE49-F238E27FC236}">
                <a16:creationId xmlns:a16="http://schemas.microsoft.com/office/drawing/2014/main" id="{2E4FD605-79E6-40E5-9550-7F5A0E9D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48175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-num-3">
            <a:extLst xmlns:a="http://schemas.openxmlformats.org/drawingml/2006/main">
              <a:ext uri="{FF2B5EF4-FFF2-40B4-BE49-F238E27FC236}">
                <a16:creationId xmlns:a16="http://schemas.microsoft.com/office/drawing/2014/main" id="{475389FA-75DA-48FA-ABA4-6FC7483F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8A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CA174D31-A009-44A1-87EA-C7989DD7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Persist twice</a:t>
            </a:r>
          </a:p>
        </p:txBody>
      </p:sp>
      <p:sp>
        <p:nvSpPr>
          <p:cNvPr id="19" name="step-copy-3">
            <a:extLst xmlns:a="http://schemas.openxmlformats.org/drawingml/2006/main">
              <a:ext uri="{FF2B5EF4-FFF2-40B4-BE49-F238E27FC236}">
                <a16:creationId xmlns:a16="http://schemas.microsoft.com/office/drawing/2014/main" id="{03E0D48F-D046-46D6-9941-E29C14CF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244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Embeddings go to Pinecone; the same records go to local JSONL.</a:t>
            </a:r>
          </a:p>
        </p:txBody>
      </p:sp>
      <p:sp>
        <p:nvSpPr>
          <p:cNvPr id="20" name="metadata-panel">
            <a:extLst xmlns:a="http://schemas.openxmlformats.org/drawingml/2006/main">
              <a:ext uri="{FF2B5EF4-FFF2-40B4-BE49-F238E27FC236}">
                <a16:creationId xmlns:a16="http://schemas.microsoft.com/office/drawing/2014/main" id="{3C5FBEBB-AEBA-4D1C-93F2-5B17F935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3143250" cy="37147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168A78"/>
            </a:solidFill>
            <a:prstDash val="solid"/>
          </a:ln>
        </p:spPr>
      </p:sp>
      <p:sp>
        <p:nvSpPr>
          <p:cNvPr id="21" name="metadata-title">
            <a:extLst xmlns:a="http://schemas.openxmlformats.org/drawingml/2006/main">
              <a:ext uri="{FF2B5EF4-FFF2-40B4-BE49-F238E27FC236}">
                <a16:creationId xmlns:a16="http://schemas.microsoft.com/office/drawing/2014/main" id="{71E9EF83-191F-4E16-B0EE-2AA62AE4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47875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Metadata carried by every chunk</a:t>
            </a:r>
          </a:p>
        </p:txBody>
      </p:sp>
      <p:sp>
        <p:nvSpPr>
          <p:cNvPr id="22" name="metadata-list">
            <a:extLst xmlns:a="http://schemas.openxmlformats.org/drawingml/2006/main">
              <a:ext uri="{FF2B5EF4-FFF2-40B4-BE49-F238E27FC236}">
                <a16:creationId xmlns:a16="http://schemas.microsoft.com/office/drawing/2014/main" id="{AEB245A8-C21A-4BF6-908A-20DFFF27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9875"/>
            <a:ext cx="247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company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00000"/>
                </a:solidFill>
                <a:latin typeface="Arial"/>
                <a:ea typeface="Arial"/>
                <a:cs typeface="Arial"/>
              </a:rPr>
              <a:t>quarter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financial_year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00000"/>
                </a:solidFill>
                <a:latin typeface="Arial"/>
                <a:ea typeface="Arial"/>
                <a:cs typeface="Arial"/>
              </a:rPr>
              <a:t>document_type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00000"/>
                </a:solidFill>
                <a:latin typeface="Arial"/>
                <a:ea typeface="Arial"/>
                <a:cs typeface="Arial"/>
              </a:rPr>
              <a:t>page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00000"/>
                </a:solidFill>
                <a:latin typeface="Arial"/>
                <a:ea typeface="Arial"/>
                <a:cs typeface="Arial"/>
              </a:rPr>
              <a:t>chunk_index</a:t>
            </a:r>
          </a:p>
        </p:txBody>
      </p:sp>
      <p:sp>
        <p:nvSpPr>
          <p:cNvPr id="23" name="source-rail">
            <a:extLst xmlns:a="http://schemas.openxmlformats.org/drawingml/2006/main">
              <a:ext uri="{FF2B5EF4-FFF2-40B4-BE49-F238E27FC236}">
                <a16:creationId xmlns:a16="http://schemas.microsoft.com/office/drawing/2014/main" id="{67953CCC-AE92-48A5-AC43-91AA4BC5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ource-rail-text">
            <a:extLst xmlns:a="http://schemas.openxmlformats.org/drawingml/2006/main">
              <a:ext uri="{FF2B5EF4-FFF2-40B4-BE49-F238E27FC236}">
                <a16:creationId xmlns:a16="http://schemas.microsoft.com/office/drawing/2014/main" id="{2443EDD2-432C-453D-902E-6C82F156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Current manifest: 15 reports across INFY, TCS and HDFCBANK</a:t>
            </a:r>
          </a:p>
        </p:txBody>
      </p:sp>
    </p:spTree>
    <p:extLst>
      <p:ext uri="{BB962C8B-B14F-4D97-AF65-F5344CB8AC3E}">
        <p14:creationId xmlns:p14="http://schemas.microsoft.com/office/powerpoint/2010/main" val="558083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5">
            <a:extLst xmlns:a="http://schemas.openxmlformats.org/drawingml/2006/main">
              <a:ext uri="{FF2B5EF4-FFF2-40B4-BE49-F238E27FC236}">
                <a16:creationId xmlns:a16="http://schemas.microsoft.com/office/drawing/2014/main" id="{7F2D7A51-790A-45AD-B24F-070F5945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A78"/>
                </a:solidFill>
                <a:latin typeface="Arial"/>
                <a:ea typeface="Arial"/>
                <a:cs typeface="Arial"/>
              </a:rPr>
              <a:t>HYBRID SEARCH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AE32CA1-C70E-42DB-AC4D-00660AFF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retrievers reduce different failure modes</a:t>
            </a:r>
          </a:p>
        </p:txBody>
      </p:sp>
      <p:sp>
        <p:nvSpPr>
          <p:cNvPr id="3" name="footer-5">
            <a:extLst xmlns:a="http://schemas.openxmlformats.org/drawingml/2006/main">
              <a:ext uri="{FF2B5EF4-FFF2-40B4-BE49-F238E27FC236}">
                <a16:creationId xmlns:a16="http://schemas.microsoft.com/office/drawing/2014/main" id="{B8E10DDD-E6FB-44A6-A5F3-380DA977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hybrid-intro">
            <a:extLst xmlns:a="http://schemas.openxmlformats.org/drawingml/2006/main">
              <a:ext uri="{FF2B5EF4-FFF2-40B4-BE49-F238E27FC236}">
                <a16:creationId xmlns:a16="http://schemas.microsoft.com/office/drawing/2014/main" id="{AE5430B5-B235-4C33-AFF0-99DE1231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2545"/>
                </a:solidFill>
                <a:latin typeface="Arial"/>
                <a:ea typeface="Arial"/>
                <a:cs typeface="Arial"/>
              </a:rPr>
              <a:t>Dense search understands meaning. BM25 protects exact financial language. RRF combines their ranks without mixing incompatible scores.</a:t>
            </a:r>
          </a:p>
        </p:txBody>
      </p:sp>
      <p:sp>
        <p:nvSpPr>
          <p:cNvPr id="5" name="dense-box">
            <a:extLst xmlns:a="http://schemas.openxmlformats.org/drawingml/2006/main">
              <a:ext uri="{FF2B5EF4-FFF2-40B4-BE49-F238E27FC236}">
                <a16:creationId xmlns:a16="http://schemas.microsoft.com/office/drawing/2014/main" id="{A4662023-248E-4E06-967F-92A63726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1432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dense-box-bar">
            <a:extLst xmlns:a="http://schemas.openxmlformats.org/drawingml/2006/main">
              <a:ext uri="{FF2B5EF4-FFF2-40B4-BE49-F238E27FC236}">
                <a16:creationId xmlns:a16="http://schemas.microsoft.com/office/drawing/2014/main" id="{92D41B22-F2CE-4AAF-8855-43C0D943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nse-box-title">
            <a:extLst xmlns:a="http://schemas.openxmlformats.org/drawingml/2006/main">
              <a:ext uri="{FF2B5EF4-FFF2-40B4-BE49-F238E27FC236}">
                <a16:creationId xmlns:a16="http://schemas.microsoft.com/office/drawing/2014/main" id="{DE727EB8-DF7C-415D-8B02-444A3B5F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Pinecone semantic search</a:t>
            </a:r>
          </a:p>
        </p:txBody>
      </p:sp>
      <p:sp>
        <p:nvSpPr>
          <p:cNvPr id="8" name="dense-box-subtitle">
            <a:extLst xmlns:a="http://schemas.openxmlformats.org/drawingml/2006/main">
              <a:ext uri="{FF2B5EF4-FFF2-40B4-BE49-F238E27FC236}">
                <a16:creationId xmlns:a16="http://schemas.microsoft.com/office/drawing/2014/main" id="{61BCEF69-7C4F-497E-86A8-63DD736E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819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Captures paraphrases and concept similarity. Uses the same Nebius embedding model as ingestion.</a:t>
            </a:r>
          </a:p>
        </p:txBody>
      </p:sp>
      <p:sp>
        <p:nvSpPr>
          <p:cNvPr id="9" name="bm25-box">
            <a:extLst xmlns:a="http://schemas.openxmlformats.org/drawingml/2006/main">
              <a:ext uri="{FF2B5EF4-FFF2-40B4-BE49-F238E27FC236}">
                <a16:creationId xmlns:a16="http://schemas.microsoft.com/office/drawing/2014/main" id="{9930120D-628D-48B1-AD0F-2C37A82B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314325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bm25-box-bar">
            <a:extLst xmlns:a="http://schemas.openxmlformats.org/drawingml/2006/main">
              <a:ext uri="{FF2B5EF4-FFF2-40B4-BE49-F238E27FC236}">
                <a16:creationId xmlns:a16="http://schemas.microsoft.com/office/drawing/2014/main" id="{AE050493-36A3-4E7A-AA4C-12FA9E79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m25-box-title">
            <a:extLst xmlns:a="http://schemas.openxmlformats.org/drawingml/2006/main">
              <a:ext uri="{FF2B5EF4-FFF2-40B4-BE49-F238E27FC236}">
                <a16:creationId xmlns:a16="http://schemas.microsoft.com/office/drawing/2014/main" id="{8588C774-3DAA-45E8-8BA3-6FF1972D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Local BM25</a:t>
            </a:r>
          </a:p>
        </p:txBody>
      </p:sp>
      <p:sp>
        <p:nvSpPr>
          <p:cNvPr id="12" name="bm25-box-subtitle">
            <a:extLst xmlns:a="http://schemas.openxmlformats.org/drawingml/2006/main">
              <a:ext uri="{FF2B5EF4-FFF2-40B4-BE49-F238E27FC236}">
                <a16:creationId xmlns:a16="http://schemas.microsoft.com/office/drawing/2014/main" id="{4F544EBE-B13D-461E-8015-BF11D679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Preserves exact terms, numbers, currency and percentages.</a:t>
            </a:r>
          </a:p>
        </p:txBody>
      </p:sp>
      <p:sp>
        <p:nvSpPr>
          <p:cNvPr id="13" name="rrf-box">
            <a:extLst xmlns:a="http://schemas.openxmlformats.org/drawingml/2006/main">
              <a:ext uri="{FF2B5EF4-FFF2-40B4-BE49-F238E27FC236}">
                <a16:creationId xmlns:a16="http://schemas.microsoft.com/office/drawing/2014/main" id="{75AED001-B97A-46E8-86BC-3D1B937B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90875"/>
            <a:ext cx="2667000" cy="1762125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rrf-box-bar">
            <a:extLst xmlns:a="http://schemas.openxmlformats.org/drawingml/2006/main">
              <a:ext uri="{FF2B5EF4-FFF2-40B4-BE49-F238E27FC236}">
                <a16:creationId xmlns:a16="http://schemas.microsoft.com/office/drawing/2014/main" id="{4793C32E-E3C8-48DC-ABE6-96CE4D90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90875"/>
            <a:ext cx="76200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rf-box-title">
            <a:extLst xmlns:a="http://schemas.openxmlformats.org/drawingml/2006/main">
              <a:ext uri="{FF2B5EF4-FFF2-40B4-BE49-F238E27FC236}">
                <a16:creationId xmlns:a16="http://schemas.microsoft.com/office/drawing/2014/main" id="{68528083-9B54-465C-8642-02DF9F9F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432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Reciprocal Rank Fusion</a:t>
            </a:r>
          </a:p>
        </p:txBody>
      </p:sp>
      <p:sp>
        <p:nvSpPr>
          <p:cNvPr id="16" name="rrf-box-subtitle">
            <a:extLst xmlns:a="http://schemas.openxmlformats.org/drawingml/2006/main">
              <a:ext uri="{FF2B5EF4-FFF2-40B4-BE49-F238E27FC236}">
                <a16:creationId xmlns:a16="http://schemas.microsoft.com/office/drawing/2014/main" id="{149FFB91-E752-42A3-8CF7-A5BAD4AF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67125"/>
            <a:ext cx="23431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score += 1 / (60 + rank)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15 + 15 candidates -&gt; top 12</a:t>
            </a:r>
          </a:p>
        </p:txBody>
      </p:sp>
      <p:sp>
        <p:nvSpPr>
          <p:cNvPr id="17" name="rerank-box">
            <a:extLst xmlns:a="http://schemas.openxmlformats.org/drawingml/2006/main">
              <a:ext uri="{FF2B5EF4-FFF2-40B4-BE49-F238E27FC236}">
                <a16:creationId xmlns:a16="http://schemas.microsoft.com/office/drawing/2014/main" id="{C04067FE-2BA5-47D3-A3CF-1F8C347F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90875"/>
            <a:ext cx="2714625" cy="1762125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rerank-box-bar">
            <a:extLst xmlns:a="http://schemas.openxmlformats.org/drawingml/2006/main">
              <a:ext uri="{FF2B5EF4-FFF2-40B4-BE49-F238E27FC236}">
                <a16:creationId xmlns:a16="http://schemas.microsoft.com/office/drawing/2014/main" id="{EB635B36-7F5B-4E7B-80D3-937A2BB7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90875"/>
            <a:ext cx="76200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rank-box-title">
            <a:extLst xmlns:a="http://schemas.openxmlformats.org/drawingml/2006/main">
              <a:ext uri="{FF2B5EF4-FFF2-40B4-BE49-F238E27FC236}">
                <a16:creationId xmlns:a16="http://schemas.microsoft.com/office/drawing/2014/main" id="{132D8F94-667A-40D4-9496-0703351D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43275"/>
            <a:ext cx="2390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LLM reranker</a:t>
            </a:r>
          </a:p>
        </p:txBody>
      </p:sp>
      <p:sp>
        <p:nvSpPr>
          <p:cNvPr id="20" name="rerank-box-subtitle">
            <a:extLst xmlns:a="http://schemas.openxmlformats.org/drawingml/2006/main">
              <a:ext uri="{FF2B5EF4-FFF2-40B4-BE49-F238E27FC236}">
                <a16:creationId xmlns:a16="http://schemas.microsoft.com/office/drawing/2014/main" id="{A5B55F73-9159-4A9E-8C8C-4E0A904F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67125"/>
            <a:ext cx="23907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Prefers direct metrics, guidance, risk statements and useful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12 -&gt; up to 6</a:t>
            </a:r>
          </a:p>
        </p:txBody>
      </p:sp>
      <p:cxnSp>
        <p:nvCxnSpPr>
          <p:cNvPr id="47" name=""/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810000" y="3286125"/>
            <a:ext cx="1047750" cy="785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3810000" y="4071938"/>
            <a:ext cx="1047750" cy="1119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524750" y="407193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sp>
        <p:nvSpPr>
          <p:cNvPr id="24" name="fallback">
            <a:extLst xmlns:a="http://schemas.openxmlformats.org/drawingml/2006/main">
              <a:ext uri="{FF2B5EF4-FFF2-40B4-BE49-F238E27FC236}">
                <a16:creationId xmlns:a16="http://schemas.microsoft.com/office/drawing/2014/main" id="{F12B3241-9586-4B68-8CD3-36E0785C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8162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B1C1C"/>
                </a:solidFill>
                <a:latin typeface="Arial"/>
                <a:ea typeface="Arial"/>
                <a:cs typeface="Arial"/>
              </a:rPr>
              <a:t>Safe fallback: if reranking fails, generation receives the first six RRF results.</a:t>
            </a:r>
          </a:p>
        </p:txBody>
      </p:sp>
      <p:sp>
        <p:nvSpPr>
          <p:cNvPr id="25" name="source-rail">
            <a:extLst xmlns:a="http://schemas.openxmlformats.org/drawingml/2006/main">
              <a:ext uri="{FF2B5EF4-FFF2-40B4-BE49-F238E27FC236}">
                <a16:creationId xmlns:a16="http://schemas.microsoft.com/office/drawing/2014/main" id="{4E52E3EB-A781-4CB9-98C9-49A1A3EA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ource-rail-text">
            <a:extLst xmlns:a="http://schemas.openxmlformats.org/drawingml/2006/main">
              <a:ext uri="{FF2B5EF4-FFF2-40B4-BE49-F238E27FC236}">
                <a16:creationId xmlns:a16="http://schemas.microsoft.com/office/drawing/2014/main" id="{13A153C9-5294-4DE7-BB93-D69BE2E6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Defaults: RETRIEVE_K=15  |  FUSED_K=12  |  FINAL_K=6</a:t>
            </a:r>
          </a:p>
        </p:txBody>
      </p:sp>
    </p:spTree>
    <p:extLst>
      <p:ext uri="{BB962C8B-B14F-4D97-AF65-F5344CB8AC3E}">
        <p14:creationId xmlns:p14="http://schemas.microsoft.com/office/powerpoint/2010/main" val="6869711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-6">
            <a:extLst xmlns:a="http://schemas.openxmlformats.org/drawingml/2006/main">
              <a:ext uri="{FF2B5EF4-FFF2-40B4-BE49-F238E27FC236}">
                <a16:creationId xmlns:a16="http://schemas.microsoft.com/office/drawing/2014/main" id="{5FA9CDC8-F244-4443-BF75-B5E00AB7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A78"/>
                </a:solidFill>
                <a:latin typeface="Arial"/>
                <a:ea typeface="Arial"/>
                <a:cs typeface="Arial"/>
              </a:rPr>
              <a:t>LANGGRAPH CONTROL FLOW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C91DC674-909C-4B9D-A596-E93CA879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Agentic routing changes scope, not the evidence standard</a:t>
            </a:r>
          </a:p>
        </p:txBody>
      </p:sp>
      <p:sp>
        <p:nvSpPr>
          <p:cNvPr id="3" name="footer-6">
            <a:extLst xmlns:a="http://schemas.openxmlformats.org/drawingml/2006/main">
              <a:ext uri="{FF2B5EF4-FFF2-40B4-BE49-F238E27FC236}">
                <a16:creationId xmlns:a16="http://schemas.microsoft.com/office/drawing/2014/main" id="{54FB8453-8F69-42AD-8C73-61633D74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outing-lead">
            <a:extLst xmlns:a="http://schemas.openxmlformats.org/drawingml/2006/main">
              <a:ext uri="{FF2B5EF4-FFF2-40B4-BE49-F238E27FC236}">
                <a16:creationId xmlns:a16="http://schemas.microsoft.com/office/drawing/2014/main" id="{72886E25-7DE0-41D8-ABC5-A6947927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24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2545"/>
                </a:solidFill>
                <a:latin typeface="Arial"/>
                <a:ea typeface="Arial"/>
                <a:cs typeface="Arial"/>
              </a:rPr>
              <a:t>A small deterministic classifier chooses one of three routes. Every route still uses the same evidence workflow.</a:t>
            </a:r>
          </a:p>
        </p:txBody>
      </p:sp>
      <p:sp>
        <p:nvSpPr>
          <p:cNvPr id="5" name="router">
            <a:extLst xmlns:a="http://schemas.openxmlformats.org/drawingml/2006/main">
              <a:ext uri="{FF2B5EF4-FFF2-40B4-BE49-F238E27FC236}">
                <a16:creationId xmlns:a16="http://schemas.microsoft.com/office/drawing/2014/main" id="{DC1CDF50-F53C-4E48-A0B3-9F367E08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38125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outer-bar">
            <a:extLst xmlns:a="http://schemas.openxmlformats.org/drawingml/2006/main">
              <a:ext uri="{FF2B5EF4-FFF2-40B4-BE49-F238E27FC236}">
                <a16:creationId xmlns:a16="http://schemas.microsoft.com/office/drawing/2014/main" id="{2CD1E100-83A0-4475-B5DB-67E6835E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76200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uter-title">
            <a:extLst xmlns:a="http://schemas.openxmlformats.org/drawingml/2006/main">
              <a:ext uri="{FF2B5EF4-FFF2-40B4-BE49-F238E27FC236}">
                <a16:creationId xmlns:a16="http://schemas.microsoft.com/office/drawing/2014/main" id="{E10AE486-96D4-47FA-8241-574E0B17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Question router</a:t>
            </a:r>
          </a:p>
        </p:txBody>
      </p:sp>
      <p:sp>
        <p:nvSpPr>
          <p:cNvPr id="8" name="router-subtitle">
            <a:extLst xmlns:a="http://schemas.openxmlformats.org/drawingml/2006/main">
              <a:ext uri="{FF2B5EF4-FFF2-40B4-BE49-F238E27FC236}">
                <a16:creationId xmlns:a16="http://schemas.microsoft.com/office/drawing/2014/main" id="{2D0DD2C4-E258-4CF6-8A3F-F6780B53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057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Comparison terms first; then finance terms; otherwise document route.</a:t>
            </a:r>
          </a:p>
        </p:txBody>
      </p:sp>
      <p:sp>
        <p:nvSpPr>
          <p:cNvPr id="9" name="financial-route">
            <a:extLst xmlns:a="http://schemas.openxmlformats.org/drawingml/2006/main">
              <a:ext uri="{FF2B5EF4-FFF2-40B4-BE49-F238E27FC236}">
                <a16:creationId xmlns:a16="http://schemas.microsoft.com/office/drawing/2014/main" id="{B26EF383-8393-475C-A4FF-FFEE3BF6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2857500" cy="10953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financial-route-bar">
            <a:extLst xmlns:a="http://schemas.openxmlformats.org/drawingml/2006/main">
              <a:ext uri="{FF2B5EF4-FFF2-40B4-BE49-F238E27FC236}">
                <a16:creationId xmlns:a16="http://schemas.microsoft.com/office/drawing/2014/main" id="{163FAB96-5EC4-4EA7-A82E-921B3287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inancial-route-title">
            <a:extLst xmlns:a="http://schemas.openxmlformats.org/drawingml/2006/main">
              <a:ext uri="{FF2B5EF4-FFF2-40B4-BE49-F238E27FC236}">
                <a16:creationId xmlns:a16="http://schemas.microsoft.com/office/drawing/2014/main" id="{60059C91-8FE8-47A5-BB3E-02C2576B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027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FINANCIAL_QUERY</a:t>
            </a:r>
          </a:p>
        </p:txBody>
      </p:sp>
      <p:sp>
        <p:nvSpPr>
          <p:cNvPr id="12" name="financial-route-subtitle">
            <a:extLst xmlns:a="http://schemas.openxmlformats.org/drawingml/2006/main">
              <a:ext uri="{FF2B5EF4-FFF2-40B4-BE49-F238E27FC236}">
                <a16:creationId xmlns:a16="http://schemas.microsoft.com/office/drawing/2014/main" id="{33FCF64C-C3E6-466E-9A2C-86070F6A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2533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Metrics, units, period labels and changes</a:t>
            </a:r>
          </a:p>
        </p:txBody>
      </p:sp>
      <p:sp>
        <p:nvSpPr>
          <p:cNvPr id="13" name="document-route">
            <a:extLst xmlns:a="http://schemas.openxmlformats.org/drawingml/2006/main">
              <a:ext uri="{FF2B5EF4-FFF2-40B4-BE49-F238E27FC236}">
                <a16:creationId xmlns:a16="http://schemas.microsoft.com/office/drawing/2014/main" id="{07ADFC45-12B4-4060-954E-8A3341D0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2857500" cy="10953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document-route-bar">
            <a:extLst xmlns:a="http://schemas.openxmlformats.org/drawingml/2006/main">
              <a:ext uri="{FF2B5EF4-FFF2-40B4-BE49-F238E27FC236}">
                <a16:creationId xmlns:a16="http://schemas.microsoft.com/office/drawing/2014/main" id="{6A2BFE9E-FABD-4D2A-9E1D-DCDF325B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76200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ocument-route-title">
            <a:extLst xmlns:a="http://schemas.openxmlformats.org/drawingml/2006/main">
              <a:ext uri="{FF2B5EF4-FFF2-40B4-BE49-F238E27FC236}">
                <a16:creationId xmlns:a16="http://schemas.microsoft.com/office/drawing/2014/main" id="{E45A28E7-DF4C-4FEF-B85A-4A5FD8B0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DOCUMENT_QUERY</a:t>
            </a:r>
          </a:p>
        </p:txBody>
      </p:sp>
      <p:sp>
        <p:nvSpPr>
          <p:cNvPr id="16" name="document-route-subtitle">
            <a:extLst xmlns:a="http://schemas.openxmlformats.org/drawingml/2006/main">
              <a:ext uri="{FF2B5EF4-FFF2-40B4-BE49-F238E27FC236}">
                <a16:creationId xmlns:a16="http://schemas.microsoft.com/office/drawing/2014/main" id="{59729B31-848C-47E2-86D4-804B399D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0000"/>
            <a:ext cx="2533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Commentary, risks, outlook and strategy</a:t>
            </a:r>
          </a:p>
        </p:txBody>
      </p:sp>
      <p:sp>
        <p:nvSpPr>
          <p:cNvPr id="17" name="comparison-route">
            <a:extLst xmlns:a="http://schemas.openxmlformats.org/drawingml/2006/main">
              <a:ext uri="{FF2B5EF4-FFF2-40B4-BE49-F238E27FC236}">
                <a16:creationId xmlns:a16="http://schemas.microsoft.com/office/drawing/2014/main" id="{6E66A0B2-9F10-464D-9785-168D2245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9625"/>
            <a:ext cx="2857500" cy="10953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comparison-route-bar">
            <a:extLst xmlns:a="http://schemas.openxmlformats.org/drawingml/2006/main">
              <a:ext uri="{FF2B5EF4-FFF2-40B4-BE49-F238E27FC236}">
                <a16:creationId xmlns:a16="http://schemas.microsoft.com/office/drawing/2014/main" id="{03F8B701-FEC3-471F-B072-2CFF8DCD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9625"/>
            <a:ext cx="76200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mparison-route-title">
            <a:extLst xmlns:a="http://schemas.openxmlformats.org/drawingml/2006/main">
              <a:ext uri="{FF2B5EF4-FFF2-40B4-BE49-F238E27FC236}">
                <a16:creationId xmlns:a16="http://schemas.microsoft.com/office/drawing/2014/main" id="{BB5FBA2C-7CD2-4520-A975-597A3016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7202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COMPARISON_QUERY</a:t>
            </a:r>
          </a:p>
        </p:txBody>
      </p:sp>
      <p:sp>
        <p:nvSpPr>
          <p:cNvPr id="20" name="comparison-route-subtitle">
            <a:extLst xmlns:a="http://schemas.openxmlformats.org/drawingml/2006/main">
              <a:ext uri="{FF2B5EF4-FFF2-40B4-BE49-F238E27FC236}">
                <a16:creationId xmlns:a16="http://schemas.microsoft.com/office/drawing/2014/main" id="{41EBF545-7C70-45DD-85EA-F73E39DE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95875"/>
            <a:ext cx="2533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Multiple periods; selected-quarter filter removed</a:t>
            </a:r>
          </a:p>
        </p:txBody>
      </p:sp>
      <p:sp>
        <p:nvSpPr>
          <p:cNvPr id="21" name="shared-evidence">
            <a:extLst xmlns:a="http://schemas.openxmlformats.org/drawingml/2006/main">
              <a:ext uri="{FF2B5EF4-FFF2-40B4-BE49-F238E27FC236}">
                <a16:creationId xmlns:a16="http://schemas.microsoft.com/office/drawing/2014/main" id="{890BD6B6-39F7-4574-B937-22A0D1C4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271462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shared-evidence-bar">
            <a:extLst xmlns:a="http://schemas.openxmlformats.org/drawingml/2006/main">
              <a:ext uri="{FF2B5EF4-FFF2-40B4-BE49-F238E27FC236}">
                <a16:creationId xmlns:a16="http://schemas.microsoft.com/office/drawing/2014/main" id="{3E86A735-93D3-44D8-BBD1-C7325E2F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red-evidence-title">
            <a:extLst xmlns:a="http://schemas.openxmlformats.org/drawingml/2006/main">
              <a:ext uri="{FF2B5EF4-FFF2-40B4-BE49-F238E27FC236}">
                <a16:creationId xmlns:a16="http://schemas.microsoft.com/office/drawing/2014/main" id="{1B2D53D9-D761-49E4-9230-85A959D3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52775"/>
            <a:ext cx="2390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Shared evidence workflow</a:t>
            </a:r>
          </a:p>
        </p:txBody>
      </p:sp>
      <p:sp>
        <p:nvSpPr>
          <p:cNvPr id="24" name="shared-evidence-subtitle">
            <a:extLst xmlns:a="http://schemas.openxmlformats.org/drawingml/2006/main">
              <a:ext uri="{FF2B5EF4-FFF2-40B4-BE49-F238E27FC236}">
                <a16:creationId xmlns:a16="http://schemas.microsoft.com/office/drawing/2014/main" id="{F4D3C917-AF41-402C-80C2-14751DF2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23907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Filter -&gt; retrieve -&gt; fuse -&gt; rerank -&gt; grounded generation</a:t>
            </a:r>
          </a:p>
        </p:txBody>
      </p:sp>
      <p:cxnSp>
        <p:nvCxnSpPr>
          <p:cNvPr id="56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048000" y="2595563"/>
            <a:ext cx="142875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048000" y="3214688"/>
            <a:ext cx="142875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048000" y="3214688"/>
            <a:ext cx="1428750" cy="1952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2595563"/>
            <a:ext cx="133350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7334250" y="3833813"/>
            <a:ext cx="133350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7334250" y="3833813"/>
            <a:ext cx="1333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sp>
        <p:nvSpPr>
          <p:cNvPr id="31" name="agentic-note">
            <a:extLst xmlns:a="http://schemas.openxmlformats.org/drawingml/2006/main">
              <a:ext uri="{FF2B5EF4-FFF2-40B4-BE49-F238E27FC236}">
                <a16:creationId xmlns:a16="http://schemas.microsoft.com/office/drawing/2014/main" id="{C15AF273-8238-4A8C-9CA0-C1AB855B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0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Why this counts as agentic: the graph makes an explicit control decision and changes retrieval scope before execution.</a:t>
            </a:r>
          </a:p>
        </p:txBody>
      </p:sp>
    </p:spTree>
    <p:extLst>
      <p:ext uri="{BB962C8B-B14F-4D97-AF65-F5344CB8AC3E}">
        <p14:creationId xmlns:p14="http://schemas.microsoft.com/office/powerpoint/2010/main" val="7632463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7">
            <a:extLst xmlns:a="http://schemas.openxmlformats.org/drawingml/2006/main">
              <a:ext uri="{FF2B5EF4-FFF2-40B4-BE49-F238E27FC236}">
                <a16:creationId xmlns:a16="http://schemas.microsoft.com/office/drawing/2014/main" id="{8BFAF581-7809-41DD-8E9A-953E5B27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A78"/>
                </a:solidFill>
                <a:latin typeface="Arial"/>
                <a:ea typeface="Arial"/>
                <a:cs typeface="Arial"/>
              </a:rPr>
              <a:t>CHAT-FIRST EXPERIENCE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098BCABC-4FB0-4E3F-BA16-96546EF6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interface reveals how every answer was built</a:t>
            </a:r>
          </a:p>
        </p:txBody>
      </p:sp>
      <p:sp>
        <p:nvSpPr>
          <p:cNvPr id="3" name="footer-7">
            <a:extLst xmlns:a="http://schemas.openxmlformats.org/drawingml/2006/main">
              <a:ext uri="{FF2B5EF4-FFF2-40B4-BE49-F238E27FC236}">
                <a16:creationId xmlns:a16="http://schemas.microsoft.com/office/drawing/2014/main" id="{2C4C8178-A108-4DA0-86B0-F0546F1C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ui-copy">
            <a:extLst xmlns:a="http://schemas.openxmlformats.org/drawingml/2006/main">
              <a:ext uri="{FF2B5EF4-FFF2-40B4-BE49-F238E27FC236}">
                <a16:creationId xmlns:a16="http://schemas.microsoft.com/office/drawing/2014/main" id="{5192ED5F-17AD-46D1-9736-AD64F524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default Q&amp;A view streams progress and answer tokens. Supporting tabs keep deterministic KPIs, promise review and source inventory close to the evidence workflow.</a:t>
            </a:r>
          </a:p>
        </p:txBody>
      </p:sp>
      <p:sp>
        <p:nvSpPr>
          <p:cNvPr id="5" name="chat-card-surface">
            <a:extLst xmlns:a="http://schemas.openxmlformats.org/drawingml/2006/main">
              <a:ext uri="{FF2B5EF4-FFF2-40B4-BE49-F238E27FC236}">
                <a16:creationId xmlns:a16="http://schemas.microsoft.com/office/drawing/2014/main" id="{D71DF4D3-F0B6-449B-B24F-B559B2BB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5623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at-card-accent">
            <a:extLst xmlns:a="http://schemas.openxmlformats.org/drawingml/2006/main">
              <a:ext uri="{FF2B5EF4-FFF2-40B4-BE49-F238E27FC236}">
                <a16:creationId xmlns:a16="http://schemas.microsoft.com/office/drawing/2014/main" id="{FC3CA490-D6CD-460D-B7F6-9A130AB1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85725" cy="29527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hat-card-stat">
            <a:extLst xmlns:a="http://schemas.openxmlformats.org/drawingml/2006/main">
              <a:ext uri="{FF2B5EF4-FFF2-40B4-BE49-F238E27FC236}">
                <a16:creationId xmlns:a16="http://schemas.microsoft.com/office/drawing/2014/main" id="{B79A786D-543D-4808-826F-4139F9FD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CHAT</a:t>
            </a:r>
          </a:p>
        </p:txBody>
      </p:sp>
      <p:sp>
        <p:nvSpPr>
          <p:cNvPr id="8" name="chat-card-label">
            <a:extLst xmlns:a="http://schemas.openxmlformats.org/drawingml/2006/main">
              <a:ext uri="{FF2B5EF4-FFF2-40B4-BE49-F238E27FC236}">
                <a16:creationId xmlns:a16="http://schemas.microsoft.com/office/drawing/2014/main" id="{71901B35-D537-450B-B89C-4D5C10BA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2714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Suggested questions, retained history, live stages, citations and retrieved excerpts.</a:t>
            </a:r>
          </a:p>
        </p:txBody>
      </p:sp>
      <p:sp>
        <p:nvSpPr>
          <p:cNvPr id="9" name="kpi-card-surface">
            <a:extLst xmlns:a="http://schemas.openxmlformats.org/drawingml/2006/main">
              <a:ext uri="{FF2B5EF4-FFF2-40B4-BE49-F238E27FC236}">
                <a16:creationId xmlns:a16="http://schemas.microsoft.com/office/drawing/2014/main" id="{8096C5C9-9750-491B-96C8-3D535060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48000"/>
            <a:ext cx="35623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kpi-card-accent">
            <a:extLst xmlns:a="http://schemas.openxmlformats.org/drawingml/2006/main">
              <a:ext uri="{FF2B5EF4-FFF2-40B4-BE49-F238E27FC236}">
                <a16:creationId xmlns:a16="http://schemas.microsoft.com/office/drawing/2014/main" id="{67CD7B42-DDF1-4F8F-B767-E191B59C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48000"/>
            <a:ext cx="85725" cy="29527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8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kpi-card-stat">
            <a:extLst xmlns:a="http://schemas.openxmlformats.org/drawingml/2006/main">
              <a:ext uri="{FF2B5EF4-FFF2-40B4-BE49-F238E27FC236}">
                <a16:creationId xmlns:a16="http://schemas.microsoft.com/office/drawing/2014/main" id="{EF520F2F-9D54-4DE6-8E8A-C5EB587A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4766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KPIs</a:t>
            </a:r>
          </a:p>
        </p:txBody>
      </p:sp>
      <p:sp>
        <p:nvSpPr>
          <p:cNvPr id="12" name="kpi-card-label">
            <a:extLst xmlns:a="http://schemas.openxmlformats.org/drawingml/2006/main">
              <a:ext uri="{FF2B5EF4-FFF2-40B4-BE49-F238E27FC236}">
                <a16:creationId xmlns:a16="http://schemas.microsoft.com/office/drawing/2014/main" id="{9ACE8951-CABC-4812-A113-9DDE624B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572000"/>
            <a:ext cx="2714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Five-quarter structured metrics avoid asking the LLM to reproduce obvious numbers.</a:t>
            </a:r>
          </a:p>
        </p:txBody>
      </p:sp>
      <p:sp>
        <p:nvSpPr>
          <p:cNvPr id="13" name="promise-card-surface">
            <a:extLst xmlns:a="http://schemas.openxmlformats.org/drawingml/2006/main">
              <a:ext uri="{FF2B5EF4-FFF2-40B4-BE49-F238E27FC236}">
                <a16:creationId xmlns:a16="http://schemas.microsoft.com/office/drawing/2014/main" id="{AFEAB824-5D63-4FC2-801C-1A9D35E6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35623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mise-card-accent">
            <a:extLst xmlns:a="http://schemas.openxmlformats.org/drawingml/2006/main">
              <a:ext uri="{FF2B5EF4-FFF2-40B4-BE49-F238E27FC236}">
                <a16:creationId xmlns:a16="http://schemas.microsoft.com/office/drawing/2014/main" id="{E15A59A3-7480-4D36-9AFB-1F2FE505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85725" cy="29527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A5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mise-card-stat">
            <a:extLst xmlns:a="http://schemas.openxmlformats.org/drawingml/2006/main">
              <a:ext uri="{FF2B5EF4-FFF2-40B4-BE49-F238E27FC236}">
                <a16:creationId xmlns:a16="http://schemas.microsoft.com/office/drawing/2014/main" id="{CD9D8685-2C53-46F9-A40F-25716515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766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PROMISES</a:t>
            </a:r>
          </a:p>
        </p:txBody>
      </p:sp>
      <p:sp>
        <p:nvSpPr>
          <p:cNvPr id="16" name="promise-card-label">
            <a:extLst xmlns:a="http://schemas.openxmlformats.org/drawingml/2006/main">
              <a:ext uri="{FF2B5EF4-FFF2-40B4-BE49-F238E27FC236}">
                <a16:creationId xmlns:a16="http://schemas.microsoft.com/office/drawing/2014/main" id="{9714002D-ACE6-4ACB-BCE0-42713878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72000"/>
            <a:ext cx="2714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Achieved, Partially Achieved, Missed or Pending - with evidence and caveats.</a:t>
            </a:r>
          </a:p>
        </p:txBody>
      </p:sp>
      <p:sp>
        <p:nvSpPr>
          <p:cNvPr id="17" name="source-rail">
            <a:extLst xmlns:a="http://schemas.openxmlformats.org/drawingml/2006/main">
              <a:ext uri="{FF2B5EF4-FFF2-40B4-BE49-F238E27FC236}">
                <a16:creationId xmlns:a16="http://schemas.microsoft.com/office/drawing/2014/main" id="{67C463D2-16E8-4AC4-B336-76777F45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ource-rail-text">
            <a:extLst xmlns:a="http://schemas.openxmlformats.org/drawingml/2006/main">
              <a:ext uri="{FF2B5EF4-FFF2-40B4-BE49-F238E27FC236}">
                <a16:creationId xmlns:a16="http://schemas.microsoft.com/office/drawing/2014/main" id="{1A4A9531-2A01-4E09-8799-20B578E1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Other tab: Sources inventory by company, quarter, pages and chunks</a:t>
            </a:r>
          </a:p>
        </p:txBody>
      </p:sp>
    </p:spTree>
    <p:extLst>
      <p:ext uri="{BB962C8B-B14F-4D97-AF65-F5344CB8AC3E}">
        <p14:creationId xmlns:p14="http://schemas.microsoft.com/office/powerpoint/2010/main" val="9737890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8">
            <a:extLst xmlns:a="http://schemas.openxmlformats.org/drawingml/2006/main">
              <a:ext uri="{FF2B5EF4-FFF2-40B4-BE49-F238E27FC236}">
                <a16:creationId xmlns:a16="http://schemas.microsoft.com/office/drawing/2014/main" id="{CA8DF1F0-6F85-49A3-8D56-50EA771B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A78"/>
                </a:solidFill>
                <a:latin typeface="Arial"/>
                <a:ea typeface="Arial"/>
                <a:cs typeface="Arial"/>
              </a:rPr>
              <a:t>ANSWER GENERATION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34C5BB0-C614-4F38-81AA-3559EE69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Grounding turns retrieved chunks into inspectable claims</a:t>
            </a:r>
          </a:p>
        </p:txBody>
      </p:sp>
      <p:sp>
        <p:nvSpPr>
          <p:cNvPr id="3" name="footer-8">
            <a:extLst xmlns:a="http://schemas.openxmlformats.org/drawingml/2006/main">
              <a:ext uri="{FF2B5EF4-FFF2-40B4-BE49-F238E27FC236}">
                <a16:creationId xmlns:a16="http://schemas.microsoft.com/office/drawing/2014/main" id="{F4BB6EAA-536B-4C01-B70D-DEA66927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grounding-left-title">
            <a:extLst xmlns:a="http://schemas.openxmlformats.org/drawingml/2006/main">
              <a:ext uri="{FF2B5EF4-FFF2-40B4-BE49-F238E27FC236}">
                <a16:creationId xmlns:a16="http://schemas.microsoft.com/office/drawing/2014/main" id="{E4B6D144-4D40-43D7-9E6F-35A14F68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Prompt contract</a:t>
            </a:r>
          </a:p>
        </p:txBody>
      </p:sp>
      <p:sp>
        <p:nvSpPr>
          <p:cNvPr id="5" name="grounding-list">
            <a:extLst xmlns:a="http://schemas.openxmlformats.org/drawingml/2006/main">
              <a:ext uri="{FF2B5EF4-FFF2-40B4-BE49-F238E27FC236}">
                <a16:creationId xmlns:a16="http://schemas.microsoft.com/office/drawing/2014/main" id="{C2513280-C1E7-4557-9BB9-7B0CAABE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4572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Answer only from supplied excerpts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Never invent metrics, causes, guidance or risks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 when evidence is insufficient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Cite factual claims with [S1], [S2]...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List only labels actually used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Keep the answer as research support</a:t>
            </a:r>
          </a:p>
        </p:txBody>
      </p:sp>
      <p:sp>
        <p:nvSpPr>
          <p:cNvPr id="6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60A58D7F-614B-433B-8966-26BB461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71625"/>
            <a:ext cx="5429250" cy="37147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answer-panel-title">
            <a:extLst xmlns:a="http://schemas.openxmlformats.org/drawingml/2006/main">
              <a:ext uri="{FF2B5EF4-FFF2-40B4-BE49-F238E27FC236}">
                <a16:creationId xmlns:a16="http://schemas.microsoft.com/office/drawing/2014/main" id="{C4079A74-475C-4CFC-9369-3103529E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050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What the user sees</a:t>
            </a:r>
          </a:p>
        </p:txBody>
      </p:sp>
      <p:sp>
        <p:nvSpPr>
          <p:cNvPr id="8" name="answer-example">
            <a:extLst xmlns:a="http://schemas.openxmlformats.org/drawingml/2006/main">
              <a:ext uri="{FF2B5EF4-FFF2-40B4-BE49-F238E27FC236}">
                <a16:creationId xmlns:a16="http://schemas.microsoft.com/office/drawing/2014/main" id="{9069F647-A4EC-41F3-9F50-D450A9F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24125"/>
            <a:ext cx="4572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selected report states the driver in the cited passage [S1]. A later-period comparison is added only when a second cited excerpt supports it [S2].</a:t>
            </a:r>
          </a:p>
        </p:txBody>
      </p:sp>
      <p:sp>
        <p:nvSpPr>
          <p:cNvPr id="9" name="citation-rule">
            <a:extLst xmlns:a="http://schemas.openxmlformats.org/drawingml/2006/main">
              <a:ext uri="{FF2B5EF4-FFF2-40B4-BE49-F238E27FC236}">
                <a16:creationId xmlns:a16="http://schemas.microsoft.com/office/drawing/2014/main" id="{890D646D-8425-4894-B82C-4EB74736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itation-map">
            <a:extLst xmlns:a="http://schemas.openxmlformats.org/drawingml/2006/main">
              <a:ext uri="{FF2B5EF4-FFF2-40B4-BE49-F238E27FC236}">
                <a16:creationId xmlns:a16="http://schemas.microsoft.com/office/drawing/2014/main" id="{E6151E0E-2482-4C7A-8AB9-AC6D26B8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[S1] -&gt; source filename | quarter | one-based PDF page</a:t>
            </a:r>
          </a:p>
          <a:p xmlns:a="http://schemas.openxmlformats.org/drawingml/2006/main">
            <a:pPr algn="l">
              <a:defRPr sz="12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[S2] -&gt; next selected evidence chunk</a:t>
            </a:r>
          </a:p>
        </p:txBody>
      </p:sp>
      <p:sp>
        <p:nvSpPr>
          <p:cNvPr id="11" name="example-disclaimer">
            <a:extLst xmlns:a="http://schemas.openxmlformats.org/drawingml/2006/main">
              <a:ext uri="{FF2B5EF4-FFF2-40B4-BE49-F238E27FC236}">
                <a16:creationId xmlns:a16="http://schemas.microsoft.com/office/drawing/2014/main" id="{F844251B-8840-4BA0-8C56-7AE6A5D3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7687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1C1C"/>
                </a:solidFill>
                <a:latin typeface="Arial"/>
                <a:ea typeface="Arial"/>
                <a:cs typeface="Arial"/>
              </a:rPr>
              <a:t>Conceptual mapping - live answers display the retrieved source names, excerpts and page numbers.</a:t>
            </a:r>
          </a:p>
        </p:txBody>
      </p:sp>
      <p:sp>
        <p:nvSpPr>
          <p:cNvPr id="12" name="source-rail">
            <a:extLst xmlns:a="http://schemas.openxmlformats.org/drawingml/2006/main">
              <a:ext uri="{FF2B5EF4-FFF2-40B4-BE49-F238E27FC236}">
                <a16:creationId xmlns:a16="http://schemas.microsoft.com/office/drawing/2014/main" id="{B2718DF5-BED5-4B51-9968-702814B6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-rail-text">
            <a:extLst xmlns:a="http://schemas.openxmlformats.org/drawingml/2006/main">
              <a:ext uri="{FF2B5EF4-FFF2-40B4-BE49-F238E27FC236}">
                <a16:creationId xmlns:a16="http://schemas.microsoft.com/office/drawing/2014/main" id="{4EA40B75-A3C1-48FA-8AF6-F81C4D0F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Citation labels are assigned after reranking, immediately before generation</a:t>
            </a:r>
          </a:p>
        </p:txBody>
      </p:sp>
    </p:spTree>
    <p:extLst>
      <p:ext uri="{BB962C8B-B14F-4D97-AF65-F5344CB8AC3E}">
        <p14:creationId xmlns:p14="http://schemas.microsoft.com/office/powerpoint/2010/main" val="10637929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9">
            <a:extLst xmlns:a="http://schemas.openxmlformats.org/drawingml/2006/main">
              <a:ext uri="{FF2B5EF4-FFF2-40B4-BE49-F238E27FC236}">
                <a16:creationId xmlns:a16="http://schemas.microsoft.com/office/drawing/2014/main" id="{7B0B1904-7B27-4BA7-BD9C-AD4E4D3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A78"/>
                </a:solidFill>
                <a:latin typeface="Arial"/>
                <a:ea typeface="Arial"/>
                <a:cs typeface="Arial"/>
              </a:rPr>
              <a:t>VALIDATION EVIDENCE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C3764D1E-8C6C-42C7-9944-81D52267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current workspace passes its implementation checks</a:t>
            </a:r>
          </a:p>
        </p:txBody>
      </p:sp>
      <p:sp>
        <p:nvSpPr>
          <p:cNvPr id="3" name="footer-9">
            <a:extLst xmlns:a="http://schemas.openxmlformats.org/drawingml/2006/main">
              <a:ext uri="{FF2B5EF4-FFF2-40B4-BE49-F238E27FC236}">
                <a16:creationId xmlns:a16="http://schemas.microsoft.com/office/drawing/2014/main" id="{10FC5BA1-C610-475B-BF9B-0B2E856F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validation-copy">
            <a:extLst xmlns:a="http://schemas.openxmlformats.org/drawingml/2006/main">
              <a:ext uri="{FF2B5EF4-FFF2-40B4-BE49-F238E27FC236}">
                <a16:creationId xmlns:a16="http://schemas.microsoft.com/office/drawing/2014/main" id="{26EB504D-6E88-46B7-9B51-B22BB536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 on 24 August 2026 used the project virtual environment and read-only ingestion mode. The active corpus remains the five-report Infosys set used by the dashboard.</a:t>
            </a:r>
          </a:p>
        </p:txBody>
      </p:sp>
      <p:sp>
        <p:nvSpPr>
          <p:cNvPr id="5" name="tests-surface">
            <a:extLst xmlns:a="http://schemas.openxmlformats.org/drawingml/2006/main">
              <a:ext uri="{FF2B5EF4-FFF2-40B4-BE49-F238E27FC236}">
                <a16:creationId xmlns:a16="http://schemas.microsoft.com/office/drawing/2014/main" id="{E22994D1-D527-4725-9B44-C29579EF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5623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sts-accent">
            <a:extLst xmlns:a="http://schemas.openxmlformats.org/drawingml/2006/main">
              <a:ext uri="{FF2B5EF4-FFF2-40B4-BE49-F238E27FC236}">
                <a16:creationId xmlns:a16="http://schemas.microsoft.com/office/drawing/2014/main" id="{642E1E1F-4DD3-47CF-BCD8-F4EB19B7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85725" cy="29527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sts-stat">
            <a:extLst xmlns:a="http://schemas.openxmlformats.org/drawingml/2006/main">
              <a:ext uri="{FF2B5EF4-FFF2-40B4-BE49-F238E27FC236}">
                <a16:creationId xmlns:a16="http://schemas.microsoft.com/office/drawing/2014/main" id="{F1BE66F7-E4FF-4273-A7E6-38CF9815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" name="tests-label">
            <a:extLst xmlns:a="http://schemas.openxmlformats.org/drawingml/2006/main">
              <a:ext uri="{FF2B5EF4-FFF2-40B4-BE49-F238E27FC236}">
                <a16:creationId xmlns:a16="http://schemas.microsoft.com/office/drawing/2014/main" id="{EE94FC26-B58E-4EFA-91D6-0BD0393F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2714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Automated tests passed in 1.24 seconds.</a:t>
            </a:r>
          </a:p>
        </p:txBody>
      </p:sp>
      <p:sp>
        <p:nvSpPr>
          <p:cNvPr id="9" name="reports-surface">
            <a:extLst xmlns:a="http://schemas.openxmlformats.org/drawingml/2006/main">
              <a:ext uri="{FF2B5EF4-FFF2-40B4-BE49-F238E27FC236}">
                <a16:creationId xmlns:a16="http://schemas.microsoft.com/office/drawing/2014/main" id="{1BA63F5C-830F-45F8-A234-150A52CE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48000"/>
            <a:ext cx="35623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ports-accent">
            <a:extLst xmlns:a="http://schemas.openxmlformats.org/drawingml/2006/main">
              <a:ext uri="{FF2B5EF4-FFF2-40B4-BE49-F238E27FC236}">
                <a16:creationId xmlns:a16="http://schemas.microsoft.com/office/drawing/2014/main" id="{C6D43E70-7E00-4926-A8A0-F4E74A6A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48000"/>
            <a:ext cx="85725" cy="29527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8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ports-stat">
            <a:extLst xmlns:a="http://schemas.openxmlformats.org/drawingml/2006/main">
              <a:ext uri="{FF2B5EF4-FFF2-40B4-BE49-F238E27FC236}">
                <a16:creationId xmlns:a16="http://schemas.microsoft.com/office/drawing/2014/main" id="{6F0BC16F-FD7D-49B8-A45D-6C6605D5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4766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2" name="reports-label">
            <a:extLst xmlns:a="http://schemas.openxmlformats.org/drawingml/2006/main">
              <a:ext uri="{FF2B5EF4-FFF2-40B4-BE49-F238E27FC236}">
                <a16:creationId xmlns:a16="http://schemas.microsoft.com/office/drawing/2014/main" id="{D8FF876A-AB6C-4B02-AA61-1F0C8D71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572000"/>
            <a:ext cx="2714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Manifest reports validated across three companies.</a:t>
            </a:r>
          </a:p>
        </p:txBody>
      </p:sp>
      <p:sp>
        <p:nvSpPr>
          <p:cNvPr id="13" name="chunks-surface">
            <a:extLst xmlns:a="http://schemas.openxmlformats.org/drawingml/2006/main">
              <a:ext uri="{FF2B5EF4-FFF2-40B4-BE49-F238E27FC236}">
                <a16:creationId xmlns:a16="http://schemas.microsoft.com/office/drawing/2014/main" id="{84AA519B-949A-4BB8-B4C9-2E4CF097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35623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unks-accent">
            <a:extLst xmlns:a="http://schemas.openxmlformats.org/drawingml/2006/main">
              <a:ext uri="{FF2B5EF4-FFF2-40B4-BE49-F238E27FC236}">
                <a16:creationId xmlns:a16="http://schemas.microsoft.com/office/drawing/2014/main" id="{363CD9B8-3E27-4992-B301-143EE24C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85725" cy="29527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A5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unks-stat">
            <a:extLst xmlns:a="http://schemas.openxmlformats.org/drawingml/2006/main">
              <a:ext uri="{FF2B5EF4-FFF2-40B4-BE49-F238E27FC236}">
                <a16:creationId xmlns:a16="http://schemas.microsoft.com/office/drawing/2014/main" id="{EC026CBA-6993-497E-A020-8E7F29FA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766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411</a:t>
            </a:r>
          </a:p>
        </p:txBody>
      </p:sp>
      <p:sp>
        <p:nvSpPr>
          <p:cNvPr id="16" name="chunks-label">
            <a:extLst xmlns:a="http://schemas.openxmlformats.org/drawingml/2006/main">
              <a:ext uri="{FF2B5EF4-FFF2-40B4-BE49-F238E27FC236}">
                <a16:creationId xmlns:a16="http://schemas.microsoft.com/office/drawing/2014/main" id="{FD9B0451-E19E-4AC3-B8CF-90AEC77E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72000"/>
            <a:ext cx="2714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Chunks produced from 191 extractable pages in the dry run.</a:t>
            </a:r>
          </a:p>
        </p:txBody>
      </p:sp>
      <p:sp>
        <p:nvSpPr>
          <p:cNvPr id="17" name="source-rail">
            <a:extLst xmlns:a="http://schemas.openxmlformats.org/drawingml/2006/main">
              <a:ext uri="{FF2B5EF4-FFF2-40B4-BE49-F238E27FC236}">
                <a16:creationId xmlns:a16="http://schemas.microsoft.com/office/drawing/2014/main" id="{79607BF5-E156-4945-8796-E627AB3A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ource-rail-text">
            <a:extLst xmlns:a="http://schemas.openxmlformats.org/drawingml/2006/main">
              <a:ext uri="{FF2B5EF4-FFF2-40B4-BE49-F238E27FC236}">
                <a16:creationId xmlns:a16="http://schemas.microsoft.com/office/drawing/2014/main" id="{31689AAB-8425-4591-8FB2-0C63C20E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Live local corpus: 5 Infosys documents | 86 chunks | Nebius and Pinecone configuration present</a:t>
            </a:r>
          </a:p>
        </p:txBody>
      </p:sp>
    </p:spTree>
    <p:extLst>
      <p:ext uri="{BB962C8B-B14F-4D97-AF65-F5344CB8AC3E}">
        <p14:creationId xmlns:p14="http://schemas.microsoft.com/office/powerpoint/2010/main" val="19492802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10">
            <a:extLst xmlns:a="http://schemas.openxmlformats.org/drawingml/2006/main">
              <a:ext uri="{FF2B5EF4-FFF2-40B4-BE49-F238E27FC236}">
                <a16:creationId xmlns:a16="http://schemas.microsoft.com/office/drawing/2014/main" id="{CD51F406-4140-4139-BDE0-C2BF5FB5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A78"/>
                </a:solidFill>
                <a:latin typeface="Arial"/>
                <a:ea typeface="Arial"/>
                <a:cs typeface="Arial"/>
              </a:rPr>
              <a:t>LIVE DEMO RUNBOOK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AED7C075-D588-4F1E-AB29-031F7B7C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seven-minute demo proves the full evidence loop</a:t>
            </a:r>
          </a:p>
        </p:txBody>
      </p:sp>
      <p:sp>
        <p:nvSpPr>
          <p:cNvPr id="3" name="footer-10">
            <a:extLst xmlns:a="http://schemas.openxmlformats.org/drawingml/2006/main">
              <a:ext uri="{FF2B5EF4-FFF2-40B4-BE49-F238E27FC236}">
                <a16:creationId xmlns:a16="http://schemas.microsoft.com/office/drawing/2014/main" id="{D0D92FF6-EBC9-42EA-9DA1-87270F1B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ime-0">
            <a:extLst xmlns:a="http://schemas.openxmlformats.org/drawingml/2006/main">
              <a:ext uri="{FF2B5EF4-FFF2-40B4-BE49-F238E27FC236}">
                <a16:creationId xmlns:a16="http://schemas.microsoft.com/office/drawing/2014/main" id="{1C253B07-764E-4416-A9D3-0AC4CF4B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0:00</a:t>
            </a:r>
          </a:p>
        </p:txBody>
      </p:sp>
      <p:sp>
        <p:nvSpPr>
          <p:cNvPr id="5" name="grid-0">
            <a:extLst xmlns:a="http://schemas.openxmlformats.org/drawingml/2006/main">
              <a:ext uri="{FF2B5EF4-FFF2-40B4-BE49-F238E27FC236}">
                <a16:creationId xmlns:a16="http://schemas.microsoft.com/office/drawing/2014/main" id="{9922BDBE-F29C-47B5-9EAF-B450F006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-1">
            <a:extLst xmlns:a="http://schemas.openxmlformats.org/drawingml/2006/main">
              <a:ext uri="{FF2B5EF4-FFF2-40B4-BE49-F238E27FC236}">
                <a16:creationId xmlns:a16="http://schemas.microsoft.com/office/drawing/2014/main" id="{654E808D-0DFA-44E4-BF18-317B0C63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192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1:30</a:t>
            </a:r>
          </a:p>
        </p:txBody>
      </p:sp>
      <p:sp>
        <p:nvSpPr>
          <p:cNvPr id="7" name="grid-1">
            <a:extLst xmlns:a="http://schemas.openxmlformats.org/drawingml/2006/main">
              <a:ext uri="{FF2B5EF4-FFF2-40B4-BE49-F238E27FC236}">
                <a16:creationId xmlns:a16="http://schemas.microsoft.com/office/drawing/2014/main" id="{F9C4FF88-E546-428A-B497-EC93BF6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05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-2">
            <a:extLst xmlns:a="http://schemas.openxmlformats.org/drawingml/2006/main">
              <a:ext uri="{FF2B5EF4-FFF2-40B4-BE49-F238E27FC236}">
                <a16:creationId xmlns:a16="http://schemas.microsoft.com/office/drawing/2014/main" id="{922B864B-5759-4629-81C1-1A7FB009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192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3:00</a:t>
            </a:r>
          </a:p>
        </p:txBody>
      </p:sp>
      <p:sp>
        <p:nvSpPr>
          <p:cNvPr id="9" name="grid-2">
            <a:extLst xmlns:a="http://schemas.openxmlformats.org/drawingml/2006/main">
              <a:ext uri="{FF2B5EF4-FFF2-40B4-BE49-F238E27FC236}">
                <a16:creationId xmlns:a16="http://schemas.microsoft.com/office/drawing/2014/main" id="{189C3B12-6864-41B0-AEBE-D34952C1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905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me-3">
            <a:extLst xmlns:a="http://schemas.openxmlformats.org/drawingml/2006/main">
              <a:ext uri="{FF2B5EF4-FFF2-40B4-BE49-F238E27FC236}">
                <a16:creationId xmlns:a16="http://schemas.microsoft.com/office/drawing/2014/main" id="{B48B3D8A-A9B1-48A9-BE15-EBEC513C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192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4:30</a:t>
            </a:r>
          </a:p>
        </p:txBody>
      </p:sp>
      <p:sp>
        <p:nvSpPr>
          <p:cNvPr id="11" name="grid-3">
            <a:extLst xmlns:a="http://schemas.openxmlformats.org/drawingml/2006/main">
              <a:ext uri="{FF2B5EF4-FFF2-40B4-BE49-F238E27FC236}">
                <a16:creationId xmlns:a16="http://schemas.microsoft.com/office/drawing/2014/main" id="{ABC836A6-A04F-410D-9828-1CC8B948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05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-4">
            <a:extLst xmlns:a="http://schemas.openxmlformats.org/drawingml/2006/main">
              <a:ext uri="{FF2B5EF4-FFF2-40B4-BE49-F238E27FC236}">
                <a16:creationId xmlns:a16="http://schemas.microsoft.com/office/drawing/2014/main" id="{D9A26C32-6BC8-4EB7-9D47-38D616DA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6:00</a:t>
            </a:r>
          </a:p>
        </p:txBody>
      </p:sp>
      <p:sp>
        <p:nvSpPr>
          <p:cNvPr id="13" name="grid-4">
            <a:extLst xmlns:a="http://schemas.openxmlformats.org/drawingml/2006/main">
              <a:ext uri="{FF2B5EF4-FFF2-40B4-BE49-F238E27FC236}">
                <a16:creationId xmlns:a16="http://schemas.microsoft.com/office/drawing/2014/main" id="{2BC86616-0AB2-463B-8584-4A8B31F5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5">
            <a:extLst xmlns:a="http://schemas.openxmlformats.org/drawingml/2006/main">
              <a:ext uri="{FF2B5EF4-FFF2-40B4-BE49-F238E27FC236}">
                <a16:creationId xmlns:a16="http://schemas.microsoft.com/office/drawing/2014/main" id="{3273843E-281D-4EE8-818D-F5076693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905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me-end">
            <a:extLst xmlns:a="http://schemas.openxmlformats.org/drawingml/2006/main">
              <a:ext uri="{FF2B5EF4-FFF2-40B4-BE49-F238E27FC236}">
                <a16:creationId xmlns:a16="http://schemas.microsoft.com/office/drawing/2014/main" id="{162626E1-2E09-4D2E-8229-7F22A69E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7:00</a:t>
            </a:r>
          </a:p>
        </p:txBody>
      </p:sp>
      <p:sp>
        <p:nvSpPr>
          <p:cNvPr id="16" name="demo-bar-0">
            <a:extLst xmlns:a="http://schemas.openxmlformats.org/drawingml/2006/main">
              <a:ext uri="{FF2B5EF4-FFF2-40B4-BE49-F238E27FC236}">
                <a16:creationId xmlns:a16="http://schemas.microsoft.com/office/drawing/2014/main" id="{8F6CC36D-E43C-4167-AC10-4C334B5A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607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168A78"/>
            </a:solidFill>
            <a:prstDash val="solid"/>
          </a:ln>
        </p:spPr>
      </p:sp>
      <p:sp>
        <p:nvSpPr>
          <p:cNvPr id="17" name="demo-label-0">
            <a:extLst xmlns:a="http://schemas.openxmlformats.org/drawingml/2006/main">
              <a:ext uri="{FF2B5EF4-FFF2-40B4-BE49-F238E27FC236}">
                <a16:creationId xmlns:a16="http://schemas.microsoft.com/office/drawing/2014/main" id="{A01115F5-C737-4B98-952D-562D9BB6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588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1  Show readiness + indexed sources</a:t>
            </a:r>
          </a:p>
        </p:txBody>
      </p:sp>
      <p:sp>
        <p:nvSpPr>
          <p:cNvPr id="18" name="demo-bar-1">
            <a:extLst xmlns:a="http://schemas.openxmlformats.org/drawingml/2006/main">
              <a:ext uri="{FF2B5EF4-FFF2-40B4-BE49-F238E27FC236}">
                <a16:creationId xmlns:a16="http://schemas.microsoft.com/office/drawing/2014/main" id="{304C3083-1C2D-4DDF-8ED3-8D2EC552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14625"/>
            <a:ext cx="530352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demo-label-1">
            <a:extLst xmlns:a="http://schemas.openxmlformats.org/drawingml/2006/main">
              <a:ext uri="{FF2B5EF4-FFF2-40B4-BE49-F238E27FC236}">
                <a16:creationId xmlns:a16="http://schemas.microsoft.com/office/drawing/2014/main" id="{D7BE4192-4E18-4477-B872-BDE6A2FA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81300"/>
            <a:ext cx="511302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2  Ask a margin question</a:t>
            </a:r>
          </a:p>
        </p:txBody>
      </p:sp>
      <p:sp>
        <p:nvSpPr>
          <p:cNvPr id="20" name="demo-bar-2">
            <a:extLst xmlns:a="http://schemas.openxmlformats.org/drawingml/2006/main">
              <a:ext uri="{FF2B5EF4-FFF2-40B4-BE49-F238E27FC236}">
                <a16:creationId xmlns:a16="http://schemas.microsoft.com/office/drawing/2014/main" id="{A995566A-1DA4-410D-9D31-24260C12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3190875"/>
            <a:ext cx="254127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" name="demo-label-2">
            <a:extLst xmlns:a="http://schemas.openxmlformats.org/drawingml/2006/main">
              <a:ext uri="{FF2B5EF4-FFF2-40B4-BE49-F238E27FC236}">
                <a16:creationId xmlns:a16="http://schemas.microsoft.com/office/drawing/2014/main" id="{149278E1-2268-44E4-A661-599B6E3C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9540" y="3257550"/>
            <a:ext cx="235077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3  Open diagnostics + citations</a:t>
            </a:r>
          </a:p>
        </p:txBody>
      </p:sp>
      <p:sp>
        <p:nvSpPr>
          <p:cNvPr id="22" name="demo-bar-3">
            <a:extLst xmlns:a="http://schemas.openxmlformats.org/drawingml/2006/main">
              <a:ext uri="{FF2B5EF4-FFF2-40B4-BE49-F238E27FC236}">
                <a16:creationId xmlns:a16="http://schemas.microsoft.com/office/drawing/2014/main" id="{CD0CF051-57F7-4BF4-A52F-72AC69FB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3667125"/>
            <a:ext cx="143637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7A5A00"/>
            </a:solidFill>
            <a:prstDash val="solid"/>
          </a:ln>
        </p:spPr>
      </p:sp>
      <p:sp>
        <p:nvSpPr>
          <p:cNvPr id="23" name="demo-label-3">
            <a:extLst xmlns:a="http://schemas.openxmlformats.org/drawingml/2006/main">
              <a:ext uri="{FF2B5EF4-FFF2-40B4-BE49-F238E27FC236}">
                <a16:creationId xmlns:a16="http://schemas.microsoft.com/office/drawing/2014/main" id="{65C5701B-8520-4DD5-BD98-A7E3ED6C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733800"/>
            <a:ext cx="124587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916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4  Ask comparison</a:t>
            </a:r>
          </a:p>
        </p:txBody>
      </p:sp>
      <p:sp>
        <p:nvSpPr>
          <p:cNvPr id="24" name="demo-bar-4">
            <a:extLst xmlns:a="http://schemas.openxmlformats.org/drawingml/2006/main">
              <a:ext uri="{FF2B5EF4-FFF2-40B4-BE49-F238E27FC236}">
                <a16:creationId xmlns:a16="http://schemas.microsoft.com/office/drawing/2014/main" id="{8C2B1476-41B2-4014-9005-39FC88E3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470" y="4143375"/>
            <a:ext cx="176784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168A78"/>
            </a:solidFill>
            <a:prstDash val="solid"/>
          </a:ln>
        </p:spPr>
      </p:sp>
      <p:sp>
        <p:nvSpPr>
          <p:cNvPr id="25" name="demo-label-4">
            <a:extLst xmlns:a="http://schemas.openxmlformats.org/drawingml/2006/main">
              <a:ext uri="{FF2B5EF4-FFF2-40B4-BE49-F238E27FC236}">
                <a16:creationId xmlns:a16="http://schemas.microsoft.com/office/drawing/2014/main" id="{98D07BFF-4BE6-49D2-99A8-2B4DACA1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770" y="4210050"/>
            <a:ext cx="157734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5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5  Show structured KPIs</a:t>
            </a:r>
          </a:p>
        </p:txBody>
      </p:sp>
      <p:sp>
        <p:nvSpPr>
          <p:cNvPr id="26" name="demo-bar-5">
            <a:extLst xmlns:a="http://schemas.openxmlformats.org/drawingml/2006/main">
              <a:ext uri="{FF2B5EF4-FFF2-40B4-BE49-F238E27FC236}">
                <a16:creationId xmlns:a16="http://schemas.microsoft.com/office/drawing/2014/main" id="{F24BE51E-4F05-4656-811F-23F7A1CF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19625"/>
            <a:ext cx="198882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demo-label-5">
            <a:extLst xmlns:a="http://schemas.openxmlformats.org/drawingml/2006/main">
              <a:ext uri="{FF2B5EF4-FFF2-40B4-BE49-F238E27FC236}">
                <a16:creationId xmlns:a16="http://schemas.microsoft.com/office/drawing/2014/main" id="{2196CE49-F6DF-44E7-987C-FFBF960F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86300"/>
            <a:ext cx="179832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6  Promise Tracker</a:t>
            </a:r>
          </a:p>
        </p:txBody>
      </p:sp>
      <p:sp>
        <p:nvSpPr>
          <p:cNvPr id="28" name="demo-bar-6">
            <a:extLst xmlns:a="http://schemas.openxmlformats.org/drawingml/2006/main">
              <a:ext uri="{FF2B5EF4-FFF2-40B4-BE49-F238E27FC236}">
                <a16:creationId xmlns:a16="http://schemas.microsoft.com/office/drawing/2014/main" id="{DC2E558D-BD7C-4156-98FF-50CFE457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5095875"/>
            <a:ext cx="198882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9B1C1C"/>
            </a:solidFill>
            <a:prstDash val="solid"/>
          </a:ln>
        </p:spPr>
      </p:sp>
      <p:sp>
        <p:nvSpPr>
          <p:cNvPr id="29" name="demo-label-6">
            <a:extLst xmlns:a="http://schemas.openxmlformats.org/drawingml/2006/main">
              <a:ext uri="{FF2B5EF4-FFF2-40B4-BE49-F238E27FC236}">
                <a16:creationId xmlns:a16="http://schemas.microsoft.com/office/drawing/2014/main" id="{F8EFFA75-9D89-4831-84A6-526349EB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530" y="5162550"/>
            <a:ext cx="179832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7  Sources + limits</a:t>
            </a:r>
          </a:p>
        </p:txBody>
      </p:sp>
      <p:sp>
        <p:nvSpPr>
          <p:cNvPr id="30" name="demo-fallback">
            <a:extLst xmlns:a="http://schemas.openxmlformats.org/drawingml/2006/main">
              <a:ext uri="{FF2B5EF4-FFF2-40B4-BE49-F238E27FC236}">
                <a16:creationId xmlns:a16="http://schemas.microsoft.com/office/drawing/2014/main" id="{FE6E68AE-E1C2-4584-9A69-7FD472EF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B1C1C"/>
                </a:solidFill>
                <a:latin typeface="Arial"/>
                <a:ea typeface="Arial"/>
                <a:cs typeface="Arial"/>
              </a:rPr>
              <a:t>Fallback if live generation fails: KPIs -&gt; seeded guidance -&gt; sources -&gt; tests -&gt; dry-run evidence.</a:t>
            </a:r>
          </a:p>
        </p:txBody>
      </p:sp>
    </p:spTree>
    <p:extLst>
      <p:ext uri="{BB962C8B-B14F-4D97-AF65-F5344CB8AC3E}">
        <p14:creationId xmlns:p14="http://schemas.microsoft.com/office/powerpoint/2010/main" val="13379904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11">
            <a:extLst xmlns:a="http://schemas.openxmlformats.org/drawingml/2006/main">
              <a:ext uri="{FF2B5EF4-FFF2-40B4-BE49-F238E27FC236}">
                <a16:creationId xmlns:a16="http://schemas.microsoft.com/office/drawing/2014/main" id="{0862CF89-C0AE-47A8-87A2-6B5D9B4F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A78"/>
                </a:solidFill>
                <a:latin typeface="Arial"/>
                <a:ea typeface="Arial"/>
                <a:cs typeface="Arial"/>
              </a:rPr>
              <a:t>LIMITATIONS &amp; ROADMAP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1A56DD21-7633-4764-B4D0-DB94F910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next gains come from coverage and evaluation</a:t>
            </a:r>
          </a:p>
        </p:txBody>
      </p:sp>
      <p:sp>
        <p:nvSpPr>
          <p:cNvPr id="3" name="footer-11">
            <a:extLst xmlns:a="http://schemas.openxmlformats.org/drawingml/2006/main">
              <a:ext uri="{FF2B5EF4-FFF2-40B4-BE49-F238E27FC236}">
                <a16:creationId xmlns:a16="http://schemas.microsoft.com/office/drawing/2014/main" id="{0DCE71D6-4D16-44FC-935C-819A9D7C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limits-title">
            <a:extLst xmlns:a="http://schemas.openxmlformats.org/drawingml/2006/main">
              <a:ext uri="{FF2B5EF4-FFF2-40B4-BE49-F238E27FC236}">
                <a16:creationId xmlns:a16="http://schemas.microsoft.com/office/drawing/2014/main" id="{9ABF96F9-F827-4B67-ADAE-FE1872CB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B1C1C"/>
                </a:solidFill>
                <a:latin typeface="Arial"/>
                <a:ea typeface="Arial"/>
                <a:cs typeface="Arial"/>
              </a:rPr>
              <a:t>Be explicit today</a:t>
            </a:r>
          </a:p>
        </p:txBody>
      </p:sp>
      <p:sp>
        <p:nvSpPr>
          <p:cNvPr id="5" name="limits-list">
            <a:extLst xmlns:a="http://schemas.openxmlformats.org/drawingml/2006/main">
              <a:ext uri="{FF2B5EF4-FFF2-40B4-BE49-F238E27FC236}">
                <a16:creationId xmlns:a16="http://schemas.microsoft.com/office/drawing/2014/main" id="{29B596A5-3A9F-4D41-8A57-9F1FC2FF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OCR for image-only scans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Live APIs still depend on credentials and service availability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Seeded promise records need revalidation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Structured KPI UI currently covers Infosys only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support, not investment advice</a:t>
            </a:r>
          </a:p>
        </p:txBody>
      </p:sp>
      <p:sp>
        <p:nvSpPr>
          <p:cNvPr id="6" name="roadmap-divider">
            <a:extLst xmlns:a="http://schemas.openxmlformats.org/drawingml/2006/main">
              <a:ext uri="{FF2B5EF4-FFF2-40B4-BE49-F238E27FC236}">
                <a16:creationId xmlns:a16="http://schemas.microsoft.com/office/drawing/2014/main" id="{ABC710C4-CA60-4BA0-A2B4-FE015799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71625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admap-title">
            <a:extLst xmlns:a="http://schemas.openxmlformats.org/drawingml/2006/main">
              <a:ext uri="{FF2B5EF4-FFF2-40B4-BE49-F238E27FC236}">
                <a16:creationId xmlns:a16="http://schemas.microsoft.com/office/drawing/2014/main" id="{4A4603DF-EB63-49D1-8F0E-AE4959D5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A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8A78"/>
                </a:solidFill>
                <a:latin typeface="Arial"/>
                <a:ea typeface="Arial"/>
                <a:cs typeface="Arial"/>
              </a:rPr>
              <a:t>Build next</a:t>
            </a:r>
          </a:p>
        </p:txBody>
      </p:sp>
      <p:sp>
        <p:nvSpPr>
          <p:cNvPr id="8" name="roadmap-list">
            <a:extLst xmlns:a="http://schemas.openxmlformats.org/drawingml/2006/main">
              <a:ext uri="{FF2B5EF4-FFF2-40B4-BE49-F238E27FC236}">
                <a16:creationId xmlns:a16="http://schemas.microsoft.com/office/drawing/2014/main" id="{3F52DE32-6BE7-4CF0-83E9-6E1560E4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OCR and extraction-quality checks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TCS and HDFC Bank structured metrics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End-to-end citation evaluation sets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Automated NSE/BSE filing ingestion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Authentication, deployment and monitoring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GraphRAG for guidance-to-actual relationships</a:t>
            </a:r>
          </a:p>
        </p:txBody>
      </p:sp>
      <p:sp>
        <p:nvSpPr>
          <p:cNvPr id="9" name="roadmap-principle">
            <a:extLst xmlns:a="http://schemas.openxmlformats.org/drawingml/2006/main">
              <a:ext uri="{FF2B5EF4-FFF2-40B4-BE49-F238E27FC236}">
                <a16:creationId xmlns:a16="http://schemas.microsoft.com/office/drawing/2014/main" id="{9F339030-DA8D-4EA5-84A1-F6A8011B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Keep graph relationships and automation additive: source-bearing PDF chunks remain the evidence layer.</a:t>
            </a:r>
          </a:p>
        </p:txBody>
      </p:sp>
    </p:spTree>
    <p:extLst>
      <p:ext uri="{BB962C8B-B14F-4D97-AF65-F5344CB8AC3E}">
        <p14:creationId xmlns:p14="http://schemas.microsoft.com/office/powerpoint/2010/main" val="5590984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622F4988-3382-4879-9C61-75442899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A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A78"/>
                </a:solidFill>
                <a:latin typeface="Arial"/>
                <a:ea typeface="Arial"/>
                <a:cs typeface="Arial"/>
              </a:rPr>
              <a:t>CLOSING THOUGHT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0B95B930-BDB3-42A6-8974-22071837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525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Show the evidence.</a:t>
            </a:r>
          </a:p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Then trust the answer.</a:t>
            </a:r>
          </a:p>
        </p:txBody>
      </p:sp>
      <p:sp>
        <p:nvSpPr>
          <p:cNvPr id="3" name="closing-subtitle">
            <a:extLst xmlns:a="http://schemas.openxmlformats.org/drawingml/2006/main">
              <a:ext uri="{FF2B5EF4-FFF2-40B4-BE49-F238E27FC236}">
                <a16:creationId xmlns:a16="http://schemas.microsoft.com/office/drawing/2014/main" id="{792DFF89-C02C-42FE-9DD3-59AD1DB4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Questions to try: margins | risks | guidance | cross-quarter comparison</a:t>
            </a:r>
          </a:p>
        </p:txBody>
      </p:sp>
      <p:sp>
        <p:nvSpPr>
          <p:cNvPr id="4" name="closing-meta">
            <a:extLst xmlns:a="http://schemas.openxmlformats.org/drawingml/2006/main">
              <a:ext uri="{FF2B5EF4-FFF2-40B4-BE49-F238E27FC236}">
                <a16:creationId xmlns:a16="http://schemas.microsoft.com/office/drawing/2014/main" id="{BE9AE15C-752C-4464-B237-51690918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EARNINGSIQ  |  AGENTIC HYBRID RAG</a:t>
            </a:r>
          </a:p>
        </p:txBody>
      </p:sp>
    </p:spTree>
    <p:extLst>
      <p:ext uri="{BB962C8B-B14F-4D97-AF65-F5344CB8AC3E}">
        <p14:creationId xmlns:p14="http://schemas.microsoft.com/office/powerpoint/2010/main" val="1486567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2026-08-24T00:21:03.6620000Z</dcterms:created>
  <dcterms:modified xsi:type="dcterms:W3CDTF">2026-08-24T00:21:03.6630000Z</dcterms:modified>
</coreProperties>
</file>